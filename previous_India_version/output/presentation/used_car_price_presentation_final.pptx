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ff04c0670fa4327" /><Relationship Type="http://schemas.openxmlformats.org/officeDocument/2006/relationships/extended-properties" Target="/docProps/app.xml" Id="R714b436a84f94c72" /><Relationship Type="http://schemas.openxmlformats.org/officeDocument/2006/relationships/officeDocument" Target="/ppt/presentation.xml" Id="R5c4026da660445bf" /></Relationships>
</file>

<file path=ppt/presentation.xml><?xml version="1.0" encoding="utf-8"?>
<p:presentation xmlns:p="http://schemas.openxmlformats.org/presentationml/2006/main">
  <p:sldMasterIdLst>
    <p:sldMasterId xmlns:r="http://schemas.openxmlformats.org/officeDocument/2006/relationships" id="2147483648" r:id="R87eb6623fa6044b0"/>
  </p:sldMasterIdLst>
  <p:notesMasterIdLst>
    <p:notesMasterId xmlns:r="http://schemas.openxmlformats.org/officeDocument/2006/relationships" r:id="R0ab2a9912e5d492f"/>
  </p:notesMasterIdLst>
  <p:sldIdLst>
    <p:sldId xmlns:r="http://schemas.openxmlformats.org/officeDocument/2006/relationships" id="256" r:id="R3edff6434d0d48ec"/>
    <p:sldId xmlns:r="http://schemas.openxmlformats.org/officeDocument/2006/relationships" id="257" r:id="Rd09624aa87c44f91"/>
    <p:sldId xmlns:r="http://schemas.openxmlformats.org/officeDocument/2006/relationships" id="258" r:id="R952a6d9d68fd4b3b"/>
    <p:sldId xmlns:r="http://schemas.openxmlformats.org/officeDocument/2006/relationships" id="259" r:id="Radb2e25ebf0449ad"/>
    <p:sldId xmlns:r="http://schemas.openxmlformats.org/officeDocument/2006/relationships" id="260" r:id="R1840d8b996804c9e"/>
    <p:sldId xmlns:r="http://schemas.openxmlformats.org/officeDocument/2006/relationships" id="261" r:id="Rd6f65839a4d04939"/>
    <p:sldId xmlns:r="http://schemas.openxmlformats.org/officeDocument/2006/relationships" id="262" r:id="R56ac4b0d421b4670"/>
    <p:sldId xmlns:r="http://schemas.openxmlformats.org/officeDocument/2006/relationships" id="263" r:id="Ra5c04cd91f6d4850"/>
    <p:sldId xmlns:r="http://schemas.openxmlformats.org/officeDocument/2006/relationships" id="264" r:id="R8272f0fca84149b1"/>
    <p:sldId xmlns:r="http://schemas.openxmlformats.org/officeDocument/2006/relationships" id="265" r:id="R124887aaf1b046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ed5a26100e4d1d" /><Relationship Type="http://schemas.openxmlformats.org/officeDocument/2006/relationships/slideMaster" Target="/ppt/slideMasters/slideMaster1.xml" Id="R87eb6623fa6044b0" /><Relationship Type="http://schemas.openxmlformats.org/officeDocument/2006/relationships/notesMaster" Target="/ppt/notesMasters/notesMaster1.xml" Id="R0ab2a9912e5d492f" /><Relationship Type="http://schemas.openxmlformats.org/officeDocument/2006/relationships/presProps" Target="/ppt/presProps.xml" Id="R7240343957d5479d" /><Relationship Type="http://schemas.openxmlformats.org/officeDocument/2006/relationships/tableStyles" Target="/ppt/tableStyles.xml" Id="R4218866c51514b14" /><Relationship Type="http://schemas.openxmlformats.org/officeDocument/2006/relationships/slide" Target="/ppt/slides/slide1.xml" Id="R3edff6434d0d48ec" /><Relationship Type="http://schemas.openxmlformats.org/officeDocument/2006/relationships/slide" Target="/ppt/slides/slide2.xml" Id="Rd09624aa87c44f91" /><Relationship Type="http://schemas.openxmlformats.org/officeDocument/2006/relationships/slide" Target="/ppt/slides/slide3.xml" Id="R952a6d9d68fd4b3b" /><Relationship Type="http://schemas.openxmlformats.org/officeDocument/2006/relationships/slide" Target="/ppt/slides/slide4.xml" Id="Radb2e25ebf0449ad" /><Relationship Type="http://schemas.openxmlformats.org/officeDocument/2006/relationships/slide" Target="/ppt/slides/slide5.xml" Id="R1840d8b996804c9e" /><Relationship Type="http://schemas.openxmlformats.org/officeDocument/2006/relationships/slide" Target="/ppt/slides/slide6.xml" Id="Rd6f65839a4d04939" /><Relationship Type="http://schemas.openxmlformats.org/officeDocument/2006/relationships/slide" Target="/ppt/slides/slide7.xml" Id="R56ac4b0d421b4670" /><Relationship Type="http://schemas.openxmlformats.org/officeDocument/2006/relationships/slide" Target="/ppt/slides/slide8.xml" Id="Ra5c04cd91f6d4850" /><Relationship Type="http://schemas.openxmlformats.org/officeDocument/2006/relationships/slide" Target="/ppt/slides/slide9.xml" Id="R8272f0fca84149b1" /><Relationship Type="http://schemas.openxmlformats.org/officeDocument/2006/relationships/slide" Target="/ppt/slides/slide10.xml" Id="R124887aaf1b046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054f9566194e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2252d7c304427f" /><Relationship Type="http://schemas.openxmlformats.org/officeDocument/2006/relationships/notesMaster" Target="/ppt/notesMasters/notesMaster1.xml" Id="R37ece06c745349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a3b4624d4240c2" /><Relationship Type="http://schemas.openxmlformats.org/officeDocument/2006/relationships/notesMaster" Target="/ppt/notesMasters/notesMaster1.xml" Id="R3d4ce27f180d42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091b6703674ee9" /><Relationship Type="http://schemas.openxmlformats.org/officeDocument/2006/relationships/notesMaster" Target="/ppt/notesMasters/notesMaster1.xml" Id="R9c70d31d95f144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b707ca4e9b43a9" /><Relationship Type="http://schemas.openxmlformats.org/officeDocument/2006/relationships/notesMaster" Target="/ppt/notesMasters/notesMaster1.xml" Id="R42c92579c2ff43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a02a97a0f44461" /><Relationship Type="http://schemas.openxmlformats.org/officeDocument/2006/relationships/notesMaster" Target="/ppt/notesMasters/notesMaster1.xml" Id="R1111183ddd8c4b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9aa33fbfca4aca" /><Relationship Type="http://schemas.openxmlformats.org/officeDocument/2006/relationships/notesMaster" Target="/ppt/notesMasters/notesMaster1.xml" Id="R6a35555640254b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7804db025f4f9a" /><Relationship Type="http://schemas.openxmlformats.org/officeDocument/2006/relationships/notesMaster" Target="/ppt/notesMasters/notesMaster1.xml" Id="R09df365104564f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45ae3ce24447da" /><Relationship Type="http://schemas.openxmlformats.org/officeDocument/2006/relationships/notesMaster" Target="/ppt/notesMasters/notesMaster1.xml" Id="R6ff377c19f554e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0bba8e5fb74723" /><Relationship Type="http://schemas.openxmlformats.org/officeDocument/2006/relationships/notesMaster" Target="/ppt/notesMasters/notesMaster1.xml" Id="Re42510f6f91b4ac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8096b3969e4e1f" /><Relationship Type="http://schemas.openxmlformats.org/officeDocument/2006/relationships/notesMaster" Target="/ppt/notesMasters/notesMaster1.xml" Id="Re270c34c255e45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Alisher: introduce the question and dataset. Data: Nehal Birla, Vehicle dataset (CarDekho), https://www.kaggle.com/datasets/nehalbirla/vehicle-dataset-from-cardekho . Local CSV mirror: https://github.com/HarshKapadia2/car-details/blob/main/data/car_details_v3.csv . All statistics on this slide come from the project script and 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Alisher: explain the task and success criterion. Data: Nehal Birla, Vehicle dataset (CarDekho), https://www.kaggle.com/datasets/nehalbirla/vehicle-dataset-from-cardekho . Local CSV mirror: https://github.com/HarshKapadia2/car-details/blob/main/data/car_details_v3.csv . All statistics on this slide come from the project script and 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Alisher: describe provenance, licence and limitations. Data: Nehal Birla, Vehicle dataset (CarDekho), https://www.kaggle.com/datasets/nehalbirla/vehicle-dataset-from-cardekho . Local CSV mirror: https://github.com/HarshKapadia2/car-details/blob/main/data/car_details_v3.csv . All statistics on this slide come from the project script and 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Alisher: training-only EDA. The chart shows median asking price by model year, with years having fewer than 10 training rows excluded. Data: Nehal Birla, Vehicle dataset (CarDekho), https://www.kaggle.com/datasets/nehalbirla/vehicle-dataset-from-cardekho . Local CSV mirror: https://github.com/HarshKapadia2/car-details/blob/main/data/car_details_v3.csv . All statistics on this slide come from the project script and 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Alisher: training-only EDA. The chart compares fuel-group medians. Price distribution is right-skewed; the notebook contains four EDA plots and interpretations. Fuel group differences are descriptive and may reflect car mix. Data: Nehal Birla, Vehicle dataset (CarDekho), https://www.kaggle.com/datasets/nehalbirla/vehicle-dataset-from-cardekho . Local CSV mirror: https://github.com/HarshKapadia2/car-details/blob/main/data/car_details_v3.csv . All statistics on this slide come from the project script and 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Alisher: explain choices and why they avoid leakage. Data: Nehal Birla, Vehicle dataset (CarDekho), https://www.kaggle.com/datasets/nehalbirla/vehicle-dataset-from-cardekho . Local CSV mirror: https://github.com/HarshKapadia2/car-details/blob/main/data/car_details_v3.csv . All statistics on this slide come from the project script and 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Aslan: explain 70/15/15 splitting, cross-validation and test isolation. Data: Nehal Birla, Vehicle dataset (CarDekho), https://www.kaggle.com/datasets/nehalbirla/vehicle-dataset-from-cardekho . Local CSV mirror: https://github.com/HarshKapadia2/car-details/blob/main/data/car_details_v3.csv . All statistics on this slide come from the project script and 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Aslan: model selection uses validation MAE, not the final test. Tree CV mean MAE was INR 107,233. Data: Nehal Birla, Vehicle dataset (CarDekho), https://www.kaggle.com/datasets/nehalbirla/vehicle-dataset-from-cardekho . Local CSV mirror: https://github.com/HarshKapadia2/car-details/blob/main/data/car_details_v3.csv . All statistics on this slide come from the project script and 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Aslan: KNN was selected on validation. Its test RMSE is INR 205,422 and R2 is 0.828. Median baseline test MAE is INR 263,674. The model is less accurate for the highest price quartile. Data: Nehal Birla, Vehicle dataset (CarDekho), https://www.kaggle.com/datasets/nehalbirla/vehicle-dataset-from-cardekho . Local CSV mirror: https://github.com/HarshKapadia2/car-details/blob/main/data/car_details_v3.csv . All statistics on this slide come from the project script and 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Aslan: summarize limitations and plan. Alisher and Aslan: both answer questions. The team confirmed Alisher's contribution to dataset sourcing, audit, cleaning and EDA, and Aslan's contribution to modelling, cross-validation, metrics and error analysis. Data: Nehal Birla, Vehicle dataset (CarDekho), https://www.kaggle.com/datasets/nehalbirla/vehicle-dataset-from-cardekho . Local CSV mirror: https://github.com/HarshKapadia2/car-details/blob/main/data/car_details_v3.csv . All statistics on this slide come from the project script and 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bbfc22043743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32a001f1494e14" /><Relationship Type="http://schemas.openxmlformats.org/officeDocument/2006/relationships/slideLayout" Target="/ppt/slideLayouts/slideLayout1.xml" Id="Rb4b1be6bc26b47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b1be6bc26b47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48f9e2499d4d17" /><Relationship Type="http://schemas.openxmlformats.org/officeDocument/2006/relationships/notesSlide" Target="/ppt/notesSlides/notesSlide1.xml" Id="R613bddc1837940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6b087be51642d9" /><Relationship Type="http://schemas.openxmlformats.org/officeDocument/2006/relationships/notesSlide" Target="/ppt/notesSlides/notesSlide2.xml" Id="Rc40561f4c4b849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b2cdd64904484e" /><Relationship Type="http://schemas.openxmlformats.org/officeDocument/2006/relationships/notesSlide" Target="/ppt/notesSlides/notesSlide3.xml" Id="Rcdf94025b8d149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122828adeb48d2" /><Relationship Type="http://schemas.openxmlformats.org/officeDocument/2006/relationships/chart" Target="/ppt/slides/charts/chart1.xml" Id="R4284514363bb4615" /><Relationship Type="http://schemas.openxmlformats.org/officeDocument/2006/relationships/notesSlide" Target="/ppt/notesSlides/notesSlide4.xml" Id="R8fcc391a00ab42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8001ec19feb4b63" /><Relationship Type="http://schemas.openxmlformats.org/officeDocument/2006/relationships/chart" Target="/ppt/slides/charts/chart2.xml" Id="Rf8af0bb1ee904c55" /><Relationship Type="http://schemas.openxmlformats.org/officeDocument/2006/relationships/notesSlide" Target="/ppt/notesSlides/notesSlide5.xml" Id="Rd9fb60abd39044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798df1550c5489e" /><Relationship Type="http://schemas.openxmlformats.org/officeDocument/2006/relationships/notesSlide" Target="/ppt/notesSlides/notesSlide6.xml" Id="R15b1380186e640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7fe937cb9cc4ae3" /><Relationship Type="http://schemas.openxmlformats.org/officeDocument/2006/relationships/notesSlide" Target="/ppt/notesSlides/notesSlide7.xml" Id="Rfc3afbbbbab24d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d64fcc047148d7" /><Relationship Type="http://schemas.openxmlformats.org/officeDocument/2006/relationships/chart" Target="/ppt/slides/charts/chart3.xml" Id="R4326fd4aa8dc48d7" /><Relationship Type="http://schemas.openxmlformats.org/officeDocument/2006/relationships/notesSlide" Target="/ppt/notesSlides/notesSlide8.xml" Id="R8c5004d6415141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be884bc01234ca6" /><Relationship Type="http://schemas.openxmlformats.org/officeDocument/2006/relationships/chart" Target="/ppt/slides/charts/chart4.xml" Id="Re1b6c3d02e2942e8" /><Relationship Type="http://schemas.openxmlformats.org/officeDocument/2006/relationships/notesSlide" Target="/ppt/notesSlides/notesSlide9.xml" Id="Rdb6f8b6e53824a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5890aba3d94a16" /><Relationship Type="http://schemas.openxmlformats.org/officeDocument/2006/relationships/notesSlide" Target="/ppt/notesSlides/notesSlide10.xml" Id="R3708125358424f4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Median INR</c:v>
          </c:tx>
          <c:spPr>
            <a:solidFill xmlns:a="http://schemas.openxmlformats.org/drawingml/2006/main">
              <a:srgbClr val="176B82"/>
            </a:solidFill>
          </c:spPr>
          <c:marker>
            <c:symbol val="none"/>
          </c:marker>
          <c:cat>
            <c:numRef>
              <c:f>'Chart Data'!$A$2:$A$21</c:f>
              <c:numCache>
                <c:formatCode>General</c:formatCode>
                <c:ptCount val="20"/>
                <c:pt idx="0">
                  <c:v>2000</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numCache>
            </c:numRef>
          </c:cat>
          <c:val>
            <c:numRef>
              <c:f>'Chart Data'!$B$2:$B$21</c:f>
              <c:numCache>
                <c:formatCode>General</c:formatCode>
                <c:ptCount val="20"/>
                <c:pt idx="0">
                  <c:v>98</c:v>
                </c:pt>
                <c:pt idx="1">
                  <c:v>75</c:v>
                </c:pt>
                <c:pt idx="2">
                  <c:v>83</c:v>
                </c:pt>
                <c:pt idx="3">
                  <c:v>90</c:v>
                </c:pt>
                <c:pt idx="4">
                  <c:v>100</c:v>
                </c:pt>
                <c:pt idx="5">
                  <c:v>145</c:v>
                </c:pt>
                <c:pt idx="6">
                  <c:v>130</c:v>
                </c:pt>
                <c:pt idx="7">
                  <c:v>175</c:v>
                </c:pt>
                <c:pt idx="8">
                  <c:v>180</c:v>
                </c:pt>
                <c:pt idx="9">
                  <c:v>220</c:v>
                </c:pt>
                <c:pt idx="10">
                  <c:v>262</c:v>
                </c:pt>
                <c:pt idx="11">
                  <c:v>300</c:v>
                </c:pt>
                <c:pt idx="12">
                  <c:v>387</c:v>
                </c:pt>
                <c:pt idx="13">
                  <c:v>451</c:v>
                </c:pt>
                <c:pt idx="14">
                  <c:v>525</c:v>
                </c:pt>
                <c:pt idx="15">
                  <c:v>550</c:v>
                </c:pt>
                <c:pt idx="16">
                  <c:v>635</c:v>
                </c:pt>
                <c:pt idx="17">
                  <c:v>680</c:v>
                </c:pt>
                <c:pt idx="18">
                  <c:v>695</c:v>
                </c:pt>
                <c:pt idx="19">
                  <c:v>589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Median INR</c:v>
          </c:tx>
          <c:spPr>
            <a:solidFill xmlns:a="http://schemas.openxmlformats.org/drawingml/2006/main">
              <a:srgbClr val="176B82"/>
            </a:solidFill>
          </c:spPr>
          <c:cat>
            <c:strRef>
              <c:f>'Chart Data'!$A$2:$A$5</c:f>
              <c:strCache>
                <c:ptCount val="4"/>
                <c:pt idx="0">
                  <c:v>Petrol</c:v>
                </c:pt>
                <c:pt idx="1">
                  <c:v>Diesel</c:v>
                </c:pt>
                <c:pt idx="2">
                  <c:v>CNG</c:v>
                </c:pt>
                <c:pt idx="3">
                  <c:v>LPG</c:v>
                </c:pt>
              </c:strCache>
            </c:strRef>
          </c:cat>
          <c:val>
            <c:numRef>
              <c:f>'Chart Data'!$B$2:$B$5</c:f>
              <c:numCache>
                <c:formatCode>General</c:formatCode>
                <c:ptCount val="4"/>
                <c:pt idx="0">
                  <c:v>300</c:v>
                </c:pt>
                <c:pt idx="1">
                  <c:v>510</c:v>
                </c:pt>
                <c:pt idx="2">
                  <c:v>320</c:v>
                </c:pt>
                <c:pt idx="3">
                  <c:v>188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 thousand INR</c:v>
          </c:tx>
          <c:spPr>
            <a:solidFill xmlns:a="http://schemas.openxmlformats.org/drawingml/2006/main">
              <a:srgbClr val="176B82"/>
            </a:solidFill>
          </c:spPr>
          <c:cat>
            <c:strRef>
              <c:f>'Chart Data'!$A$2:$A$5</c:f>
              <c:strCache>
                <c:ptCount val="4"/>
                <c:pt idx="0">
                  <c:v>Median</c:v>
                </c:pt>
                <c:pt idx="1">
                  <c:v>Linear</c:v>
                </c:pt>
                <c:pt idx="2">
                  <c:v>Tree</c:v>
                </c:pt>
                <c:pt idx="3">
                  <c:v>KNN</c:v>
                </c:pt>
              </c:strCache>
            </c:strRef>
          </c:cat>
          <c:val>
            <c:numRef>
              <c:f>'Chart Data'!$B$2:$B$5</c:f>
              <c:numCache>
                <c:formatCode>General</c:formatCode>
                <c:ptCount val="4"/>
                <c:pt idx="0">
                  <c:v>258</c:v>
                </c:pt>
                <c:pt idx="1">
                  <c:v>134</c:v>
                </c:pt>
                <c:pt idx="2">
                  <c:v>93</c:v>
                </c:pt>
                <c:pt idx="3">
                  <c:v>90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absolute error (thousand INR)</c:v>
          </c:tx>
          <c:spPr>
            <a:solidFill xmlns:a="http://schemas.openxmlformats.org/drawingml/2006/main">
              <a:srgbClr val="B65E43"/>
            </a:solidFill>
          </c:spPr>
          <c:cat>
            <c:strRef>
              <c:f>'Chart Data'!$A$2:$A$5</c:f>
              <c:strCache>
                <c:ptCount val="4"/>
                <c:pt idx="0">
                  <c:v>Q1</c:v>
                </c:pt>
                <c:pt idx="1">
                  <c:v>Q2</c:v>
                </c:pt>
                <c:pt idx="2">
                  <c:v>Q3</c:v>
                </c:pt>
                <c:pt idx="3">
                  <c:v>Q4</c:v>
                </c:pt>
              </c:strCache>
            </c:strRef>
          </c:cat>
          <c:val>
            <c:numRef>
              <c:f>'Chart Data'!$B$2:$B$5</c:f>
              <c:numCache>
                <c:formatCode>General</c:formatCode>
                <c:ptCount val="4"/>
                <c:pt idx="0">
                  <c:v>48</c:v>
                </c:pt>
                <c:pt idx="1">
                  <c:v>69</c:v>
                </c:pt>
                <c:pt idx="2">
                  <c:v>80</c:v>
                </c:pt>
                <c:pt idx="3">
                  <c:v>204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0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7D5379A-339F-4790-BD63-44E24DAB329F}"/>
              </a:ext>
            </a:extLst>
          </p:cNvPr>
          <p:cNvSpPr>
            <a:spLocks xmlns:a="http://schemas.openxmlformats.org/drawingml/2006/main" noGrp="1"/>
          </p:cNvSpPr>
          <p:nvPr/>
        </p:nvSpPr>
        <p:spPr>
          <a:xfrm xmlns:a="http://schemas.openxmlformats.org/drawingml/2006/main">
            <a:off x="685800" y="1476375"/>
            <a:ext cx="1028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Used car price</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estimation</a:t>
            </a:r>
          </a:p>
        </p:txBody>
      </p:sp>
      <p:sp>
        <p:nvSpPr>
          <p:cNvPr id="2" name="">
            <a:extLst xmlns:a="http://schemas.openxmlformats.org/drawingml/2006/main">
              <a:ext uri="{FF2B5EF4-FFF2-40B4-BE49-F238E27FC236}">
                <a16:creationId xmlns:a16="http://schemas.microsoft.com/office/drawing/2014/main" id="{C63CBB6A-17FC-4FF9-A2C5-2005848B998F}"/>
              </a:ext>
            </a:extLst>
          </p:cNvPr>
          <p:cNvSpPr>
            <a:spLocks xmlns:a="http://schemas.openxmlformats.org/drawingml/2006/main" noGrp="1"/>
          </p:cNvSpPr>
          <p:nvPr/>
        </p:nvSpPr>
        <p:spPr>
          <a:xfrm xmlns:a="http://schemas.openxmlformats.org/drawingml/2006/main">
            <a:off x="723900" y="35433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DE6EC"/>
                </a:solidFill>
                <a:latin typeface="Arial"/>
                <a:ea typeface="Arial"/>
                <a:cs typeface="Arial"/>
              </a:defRPr>
            </a:pPr>
            <a:r>
              <a:rPr sz="2025" b="0">
                <a:solidFill>
                  <a:srgbClr val="CDE6EC"/>
                </a:solidFill>
                <a:latin typeface="Arial"/>
                <a:ea typeface="Arial"/>
                <a:cs typeface="Arial"/>
              </a:rPr>
              <a:t>Machine Learning Algorithms · Midterm project</a:t>
            </a:r>
          </a:p>
        </p:txBody>
      </p:sp>
      <p:sp>
        <p:nvSpPr>
          <p:cNvPr id="3" name="">
            <a:extLst xmlns:a="http://schemas.openxmlformats.org/drawingml/2006/main">
              <a:ext uri="{FF2B5EF4-FFF2-40B4-BE49-F238E27FC236}">
                <a16:creationId xmlns:a16="http://schemas.microsoft.com/office/drawing/2014/main" id="{0042F30F-A846-4AE0-898D-38F616A5F1B4}"/>
              </a:ext>
            </a:extLst>
          </p:cNvPr>
          <p:cNvSpPr>
            <a:spLocks xmlns:a="http://schemas.openxmlformats.org/drawingml/2006/main" noGrp="1"/>
          </p:cNvSpPr>
          <p:nvPr/>
        </p:nvSpPr>
        <p:spPr>
          <a:xfrm xmlns:a="http://schemas.openxmlformats.org/drawingml/2006/main">
            <a:off x="723900" y="49530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Alisher Akhmet   ·   Aslan Muratov</a:t>
            </a:r>
          </a:p>
        </p:txBody>
      </p:sp>
      <p:sp>
        <p:nvSpPr>
          <p:cNvPr id="4" name="">
            <a:extLst xmlns:a="http://schemas.openxmlformats.org/drawingml/2006/main">
              <a:ext uri="{FF2B5EF4-FFF2-40B4-BE49-F238E27FC236}">
                <a16:creationId xmlns:a16="http://schemas.microsoft.com/office/drawing/2014/main" id="{6C871BAD-29D5-4E87-BDD1-22850267024A}"/>
              </a:ext>
            </a:extLst>
          </p:cNvPr>
          <p:cNvSpPr>
            <a:spLocks xmlns:a="http://schemas.openxmlformats.org/drawingml/2006/main" noGrp="1"/>
          </p:cNvSpPr>
          <p:nvPr/>
        </p:nvSpPr>
        <p:spPr>
          <a:xfrm xmlns:a="http://schemas.openxmlformats.org/drawingml/2006/main">
            <a:off x="723900" y="5619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DE6EC"/>
                </a:solidFill>
                <a:latin typeface="Arial"/>
                <a:ea typeface="Arial"/>
                <a:cs typeface="Arial"/>
              </a:defRPr>
            </a:pPr>
            <a:r>
              <a:rPr sz="1575" b="0">
                <a:solidFill>
                  <a:srgbClr val="CDE6EC"/>
                </a:solidFill>
                <a:latin typeface="Arial"/>
                <a:ea typeface="Arial"/>
                <a:cs typeface="Arial"/>
              </a:rPr>
              <a:t>CarDekho listing data | India | price in INR</a:t>
            </a:r>
          </a:p>
        </p:txBody>
      </p:sp>
    </p:spTree>
    <p:extLst>
      <p:ext uri="{BB962C8B-B14F-4D97-AF65-F5344CB8AC3E}">
        <p14:creationId xmlns:p14="http://schemas.microsoft.com/office/powerpoint/2010/main" val="11476444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939BE7-8FF6-4CF4-889F-215A6829441A}"/>
              </a:ext>
            </a:extLst>
          </p:cNvPr>
          <p:cNvSpPr>
            <a:spLocks xmlns:a="http://schemas.openxmlformats.org/drawingml/2006/main" noGrp="1"/>
          </p:cNvSpPr>
          <p:nvPr/>
        </p:nvSpPr>
        <p:spPr>
          <a:xfrm xmlns:a="http://schemas.openxmlformats.org/drawingml/2006/main">
            <a:off x="666750" y="4286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043"/>
                </a:solidFill>
                <a:latin typeface="Arial"/>
                <a:ea typeface="Arial"/>
                <a:cs typeface="Arial"/>
              </a:defRPr>
            </a:pPr>
            <a:r>
              <a:rPr sz="3000" b="1">
                <a:solidFill>
                  <a:srgbClr val="173043"/>
                </a:solidFill>
                <a:latin typeface="Arial"/>
                <a:ea typeface="Arial"/>
                <a:cs typeface="Arial"/>
              </a:rPr>
              <a:t>The prediction question</a:t>
            </a:r>
          </a:p>
        </p:txBody>
      </p:sp>
      <p:sp>
        <p:nvSpPr>
          <p:cNvPr id="2" name="">
            <a:extLst xmlns:a="http://schemas.openxmlformats.org/drawingml/2006/main">
              <a:ext uri="{FF2B5EF4-FFF2-40B4-BE49-F238E27FC236}">
                <a16:creationId xmlns:a16="http://schemas.microsoft.com/office/drawing/2014/main" id="{6776B93B-9876-411C-9E58-640D38F7466D}"/>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6B"/>
                </a:solidFill>
                <a:latin typeface="Arial"/>
                <a:ea typeface="Arial"/>
                <a:cs typeface="Arial"/>
              </a:defRPr>
            </a:pPr>
            <a:r>
              <a:rPr sz="1350" b="0">
                <a:solidFill>
                  <a:srgbClr val="50616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BCE90AC6-4B80-41D6-A6FF-0200C5363962}"/>
              </a:ext>
            </a:extLst>
          </p:cNvPr>
          <p:cNvSpPr>
            <a:spLocks xmlns:a="http://schemas.openxmlformats.org/drawingml/2006/main" noGrp="1"/>
          </p:cNvSpPr>
          <p:nvPr/>
        </p:nvSpPr>
        <p:spPr>
          <a:xfrm xmlns:a="http://schemas.openxmlformats.org/drawingml/2006/main">
            <a:off x="723900" y="1571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6B82"/>
                </a:solidFill>
                <a:latin typeface="Arial"/>
                <a:ea typeface="Arial"/>
                <a:cs typeface="Arial"/>
              </a:defRPr>
            </a:pPr>
            <a:r>
              <a:rPr sz="2250" b="1">
                <a:solidFill>
                  <a:srgbClr val="176B82"/>
                </a:solidFill>
                <a:latin typeface="Arial"/>
                <a:ea typeface="Arial"/>
                <a:cs typeface="Arial"/>
              </a:rPr>
              <a:t>Target</a:t>
            </a:r>
          </a:p>
        </p:txBody>
      </p:sp>
      <p:sp>
        <p:nvSpPr>
          <p:cNvPr id="4" name="">
            <a:extLst xmlns:a="http://schemas.openxmlformats.org/drawingml/2006/main">
              <a:ext uri="{FF2B5EF4-FFF2-40B4-BE49-F238E27FC236}">
                <a16:creationId xmlns:a16="http://schemas.microsoft.com/office/drawing/2014/main" id="{E25A909F-9C06-430F-A374-90693B7A82D0}"/>
              </a:ext>
            </a:extLst>
          </p:cNvPr>
          <p:cNvSpPr>
            <a:spLocks xmlns:a="http://schemas.openxmlformats.org/drawingml/2006/main" noGrp="1"/>
          </p:cNvSpPr>
          <p:nvPr/>
        </p:nvSpPr>
        <p:spPr>
          <a:xfrm xmlns:a="http://schemas.openxmlformats.org/drawingml/2006/main">
            <a:off x="723900" y="20669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043"/>
                </a:solidFill>
                <a:latin typeface="Arial"/>
                <a:ea typeface="Arial"/>
                <a:cs typeface="Arial"/>
              </a:defRPr>
            </a:pPr>
            <a:r>
              <a:rPr sz="1800" b="0">
                <a:solidFill>
                  <a:srgbClr val="173043"/>
                </a:solidFill>
                <a:latin typeface="Arial"/>
                <a:ea typeface="Arial"/>
                <a:cs typeface="Arial"/>
              </a:rPr>
              <a:t>Advertised selling_price of a used car, in Indian rupees (INR).</a:t>
            </a:r>
          </a:p>
        </p:txBody>
      </p:sp>
      <p:sp>
        <p:nvSpPr>
          <p:cNvPr id="5" name="">
            <a:extLst xmlns:a="http://schemas.openxmlformats.org/drawingml/2006/main">
              <a:ext uri="{FF2B5EF4-FFF2-40B4-BE49-F238E27FC236}">
                <a16:creationId xmlns:a16="http://schemas.microsoft.com/office/drawing/2014/main" id="{E27A458E-8D02-4F8A-BDFE-DB19039E1D2D}"/>
              </a:ext>
            </a:extLst>
          </p:cNvPr>
          <p:cNvSpPr>
            <a:spLocks xmlns:a="http://schemas.openxmlformats.org/drawingml/2006/main" noGrp="1"/>
          </p:cNvSpPr>
          <p:nvPr/>
        </p:nvSpPr>
        <p:spPr>
          <a:xfrm xmlns:a="http://schemas.openxmlformats.org/drawingml/2006/main">
            <a:off x="723900" y="3095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6B82"/>
                </a:solidFill>
                <a:latin typeface="Arial"/>
                <a:ea typeface="Arial"/>
                <a:cs typeface="Arial"/>
              </a:defRPr>
            </a:pPr>
            <a:r>
              <a:rPr sz="2250" b="1">
                <a:solidFill>
                  <a:srgbClr val="176B82"/>
                </a:solidFill>
                <a:latin typeface="Arial"/>
                <a:ea typeface="Arial"/>
                <a:cs typeface="Arial"/>
              </a:rPr>
              <a:t>Inputs</a:t>
            </a:r>
          </a:p>
        </p:txBody>
      </p:sp>
      <p:sp>
        <p:nvSpPr>
          <p:cNvPr id="6" name="">
            <a:extLst xmlns:a="http://schemas.openxmlformats.org/drawingml/2006/main">
              <a:ext uri="{FF2B5EF4-FFF2-40B4-BE49-F238E27FC236}">
                <a16:creationId xmlns:a16="http://schemas.microsoft.com/office/drawing/2014/main" id="{16C6A616-B010-4B20-BDE9-045348CD65D3}"/>
              </a:ext>
            </a:extLst>
          </p:cNvPr>
          <p:cNvSpPr>
            <a:spLocks xmlns:a="http://schemas.openxmlformats.org/drawingml/2006/main" noGrp="1"/>
          </p:cNvSpPr>
          <p:nvPr/>
        </p:nvSpPr>
        <p:spPr>
          <a:xfrm xmlns:a="http://schemas.openxmlformats.org/drawingml/2006/main">
            <a:off x="723900" y="35909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043"/>
                </a:solidFill>
                <a:latin typeface="Arial"/>
                <a:ea typeface="Arial"/>
                <a:cs typeface="Arial"/>
              </a:defRPr>
            </a:pPr>
            <a:r>
              <a:rPr sz="1800" b="0">
                <a:solidFill>
                  <a:srgbClr val="173043"/>
                </a:solidFill>
                <a:latin typeface="Arial"/>
                <a:ea typeface="Arial"/>
                <a:cs typeface="Arial"/>
              </a:rPr>
              <a:t>Brand, model year, kilometres driven, fuel, transmission, engine specifications and listing attributes.</a:t>
            </a:r>
          </a:p>
        </p:txBody>
      </p:sp>
      <p:sp>
        <p:nvSpPr>
          <p:cNvPr id="7" name="">
            <a:extLst xmlns:a="http://schemas.openxmlformats.org/drawingml/2006/main">
              <a:ext uri="{FF2B5EF4-FFF2-40B4-BE49-F238E27FC236}">
                <a16:creationId xmlns:a16="http://schemas.microsoft.com/office/drawing/2014/main" id="{553068AE-42C6-4E52-A006-E525037C1C11}"/>
              </a:ext>
            </a:extLst>
          </p:cNvPr>
          <p:cNvSpPr>
            <a:spLocks xmlns:a="http://schemas.openxmlformats.org/drawingml/2006/main" noGrp="1"/>
          </p:cNvSpPr>
          <p:nvPr/>
        </p:nvSpPr>
        <p:spPr>
          <a:xfrm xmlns:a="http://schemas.openxmlformats.org/drawingml/2006/main">
            <a:off x="723900" y="4619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65E43"/>
                </a:solidFill>
                <a:latin typeface="Arial"/>
                <a:ea typeface="Arial"/>
                <a:cs typeface="Arial"/>
              </a:defRPr>
            </a:pPr>
            <a:r>
              <a:rPr sz="2250" b="1">
                <a:solidFill>
                  <a:srgbClr val="B65E43"/>
                </a:solidFill>
                <a:latin typeface="Arial"/>
                <a:ea typeface="Arial"/>
                <a:cs typeface="Arial"/>
              </a:rPr>
              <a:t>Success criterion</a:t>
            </a:r>
          </a:p>
        </p:txBody>
      </p:sp>
      <p:sp>
        <p:nvSpPr>
          <p:cNvPr id="8" name="">
            <a:extLst xmlns:a="http://schemas.openxmlformats.org/drawingml/2006/main">
              <a:ext uri="{FF2B5EF4-FFF2-40B4-BE49-F238E27FC236}">
                <a16:creationId xmlns:a16="http://schemas.microsoft.com/office/drawing/2014/main" id="{F6FDEECA-83AB-4A03-9EB3-186FD818B8F2}"/>
              </a:ext>
            </a:extLst>
          </p:cNvPr>
          <p:cNvSpPr>
            <a:spLocks xmlns:a="http://schemas.openxmlformats.org/drawingml/2006/main" noGrp="1"/>
          </p:cNvSpPr>
          <p:nvPr/>
        </p:nvSpPr>
        <p:spPr>
          <a:xfrm xmlns:a="http://schemas.openxmlformats.org/drawingml/2006/main">
            <a:off x="723900" y="51149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043"/>
                </a:solidFill>
                <a:latin typeface="Arial"/>
                <a:ea typeface="Arial"/>
                <a:cs typeface="Arial"/>
              </a:defRPr>
            </a:pPr>
            <a:r>
              <a:rPr sz="1800" b="0">
                <a:solidFill>
                  <a:srgbClr val="173043"/>
                </a:solidFill>
                <a:latin typeface="Arial"/>
                <a:ea typeface="Arial"/>
                <a:cs typeface="Arial"/>
              </a:rPr>
              <a:t>Test MAE below INR 150,000 and at least 20% lower than a median-price baseline.</a:t>
            </a:r>
          </a:p>
        </p:txBody>
      </p:sp>
    </p:spTree>
    <p:extLst>
      <p:ext uri="{BB962C8B-B14F-4D97-AF65-F5344CB8AC3E}">
        <p14:creationId xmlns:p14="http://schemas.microsoft.com/office/powerpoint/2010/main" val="12830744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52E1BB-758B-46C1-ADE9-91B52A2F0671}"/>
              </a:ext>
            </a:extLst>
          </p:cNvPr>
          <p:cNvSpPr>
            <a:spLocks xmlns:a="http://schemas.openxmlformats.org/drawingml/2006/main" noGrp="1"/>
          </p:cNvSpPr>
          <p:nvPr/>
        </p:nvSpPr>
        <p:spPr>
          <a:xfrm xmlns:a="http://schemas.openxmlformats.org/drawingml/2006/main">
            <a:off x="666750" y="4286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043"/>
                </a:solidFill>
                <a:latin typeface="Arial"/>
                <a:ea typeface="Arial"/>
                <a:cs typeface="Arial"/>
              </a:defRPr>
            </a:pPr>
            <a:r>
              <a:rPr sz="3000" b="1">
                <a:solidFill>
                  <a:srgbClr val="173043"/>
                </a:solidFill>
                <a:latin typeface="Arial"/>
                <a:ea typeface="Arial"/>
                <a:cs typeface="Arial"/>
              </a:rPr>
              <a:t>CarDekho listing data</a:t>
            </a:r>
          </a:p>
        </p:txBody>
      </p:sp>
      <p:sp>
        <p:nvSpPr>
          <p:cNvPr id="2" name="">
            <a:extLst xmlns:a="http://schemas.openxmlformats.org/drawingml/2006/main">
              <a:ext uri="{FF2B5EF4-FFF2-40B4-BE49-F238E27FC236}">
                <a16:creationId xmlns:a16="http://schemas.microsoft.com/office/drawing/2014/main" id="{66B8C603-9858-4530-935D-73EE3CF4F7B1}"/>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6B"/>
                </a:solidFill>
                <a:latin typeface="Arial"/>
                <a:ea typeface="Arial"/>
                <a:cs typeface="Arial"/>
              </a:defRPr>
            </a:pPr>
            <a:r>
              <a:rPr sz="1350" b="0">
                <a:solidFill>
                  <a:srgbClr val="50616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E688769-DB8A-439E-BFE9-551A38BF26C2}"/>
              </a:ext>
            </a:extLst>
          </p:cNvPr>
          <p:cNvSpPr>
            <a:spLocks xmlns:a="http://schemas.openxmlformats.org/drawingml/2006/main" noGrp="1"/>
          </p:cNvSpPr>
          <p:nvPr/>
        </p:nvSpPr>
        <p:spPr>
          <a:xfrm xmlns:a="http://schemas.openxmlformats.org/drawingml/2006/main">
            <a:off x="723900" y="171450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176B82"/>
                </a:solidFill>
                <a:latin typeface="Arial"/>
                <a:ea typeface="Arial"/>
                <a:cs typeface="Arial"/>
              </a:defRPr>
            </a:pPr>
            <a:r>
              <a:rPr sz="5250" b="1">
                <a:solidFill>
                  <a:srgbClr val="176B82"/>
                </a:solidFill>
                <a:latin typeface="Arial"/>
                <a:ea typeface="Arial"/>
                <a:cs typeface="Arial"/>
              </a:rPr>
              <a:t>8,128</a:t>
            </a:r>
          </a:p>
        </p:txBody>
      </p:sp>
      <p:sp>
        <p:nvSpPr>
          <p:cNvPr id="4" name="">
            <a:extLst xmlns:a="http://schemas.openxmlformats.org/drawingml/2006/main">
              <a:ext uri="{FF2B5EF4-FFF2-40B4-BE49-F238E27FC236}">
                <a16:creationId xmlns:a16="http://schemas.microsoft.com/office/drawing/2014/main" id="{25606F12-659C-4421-A5D7-018E806CD32A}"/>
              </a:ext>
            </a:extLst>
          </p:cNvPr>
          <p:cNvSpPr>
            <a:spLocks xmlns:a="http://schemas.openxmlformats.org/drawingml/2006/main" noGrp="1"/>
          </p:cNvSpPr>
          <p:nvPr/>
        </p:nvSpPr>
        <p:spPr>
          <a:xfrm xmlns:a="http://schemas.openxmlformats.org/drawingml/2006/main">
            <a:off x="723900" y="26193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043"/>
                </a:solidFill>
                <a:latin typeface="Arial"/>
                <a:ea typeface="Arial"/>
                <a:cs typeface="Arial"/>
              </a:defRPr>
            </a:pPr>
            <a:r>
              <a:rPr sz="1950" b="0">
                <a:solidFill>
                  <a:srgbClr val="173043"/>
                </a:solidFill>
                <a:latin typeface="Arial"/>
                <a:ea typeface="Arial"/>
                <a:cs typeface="Arial"/>
              </a:rPr>
              <a:t>original listings</a:t>
            </a:r>
          </a:p>
        </p:txBody>
      </p:sp>
      <p:sp>
        <p:nvSpPr>
          <p:cNvPr id="5" name="">
            <a:extLst xmlns:a="http://schemas.openxmlformats.org/drawingml/2006/main">
              <a:ext uri="{FF2B5EF4-FFF2-40B4-BE49-F238E27FC236}">
                <a16:creationId xmlns:a16="http://schemas.microsoft.com/office/drawing/2014/main" id="{C2AF6C2B-0B21-4BEA-A70E-EB918DA8B425}"/>
              </a:ext>
            </a:extLst>
          </p:cNvPr>
          <p:cNvSpPr>
            <a:spLocks xmlns:a="http://schemas.openxmlformats.org/drawingml/2006/main" noGrp="1"/>
          </p:cNvSpPr>
          <p:nvPr/>
        </p:nvSpPr>
        <p:spPr>
          <a:xfrm xmlns:a="http://schemas.openxmlformats.org/drawingml/2006/main">
            <a:off x="4381500" y="1714500"/>
            <a:ext cx="209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176B82"/>
                </a:solidFill>
                <a:latin typeface="Arial"/>
                <a:ea typeface="Arial"/>
                <a:cs typeface="Arial"/>
              </a:defRPr>
            </a:pPr>
            <a:r>
              <a:rPr sz="5250" b="1">
                <a:solidFill>
                  <a:srgbClr val="176B82"/>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541417F0-4C45-4AC6-8DFD-89C670DC3CBA}"/>
              </a:ext>
            </a:extLst>
          </p:cNvPr>
          <p:cNvSpPr>
            <a:spLocks xmlns:a="http://schemas.openxmlformats.org/drawingml/2006/main" noGrp="1"/>
          </p:cNvSpPr>
          <p:nvPr/>
        </p:nvSpPr>
        <p:spPr>
          <a:xfrm xmlns:a="http://schemas.openxmlformats.org/drawingml/2006/main">
            <a:off x="4381500" y="26193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043"/>
                </a:solidFill>
                <a:latin typeface="Arial"/>
                <a:ea typeface="Arial"/>
                <a:cs typeface="Arial"/>
              </a:defRPr>
            </a:pPr>
            <a:r>
              <a:rPr sz="1950" b="0">
                <a:solidFill>
                  <a:srgbClr val="173043"/>
                </a:solidFill>
                <a:latin typeface="Arial"/>
                <a:ea typeface="Arial"/>
                <a:cs typeface="Arial"/>
              </a:rPr>
              <a:t>original columns</a:t>
            </a:r>
          </a:p>
        </p:txBody>
      </p:sp>
      <p:sp>
        <p:nvSpPr>
          <p:cNvPr id="7" name="">
            <a:extLst xmlns:a="http://schemas.openxmlformats.org/drawingml/2006/main">
              <a:ext uri="{FF2B5EF4-FFF2-40B4-BE49-F238E27FC236}">
                <a16:creationId xmlns:a16="http://schemas.microsoft.com/office/drawing/2014/main" id="{5EDF8F00-C2A3-4100-B188-332501B78AD4}"/>
              </a:ext>
            </a:extLst>
          </p:cNvPr>
          <p:cNvSpPr>
            <a:spLocks xmlns:a="http://schemas.openxmlformats.org/drawingml/2006/main" noGrp="1"/>
          </p:cNvSpPr>
          <p:nvPr/>
        </p:nvSpPr>
        <p:spPr>
          <a:xfrm xmlns:a="http://schemas.openxmlformats.org/drawingml/2006/main">
            <a:off x="7810500" y="1714500"/>
            <a:ext cx="361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6B82"/>
                </a:solidFill>
                <a:latin typeface="Arial"/>
                <a:ea typeface="Arial"/>
                <a:cs typeface="Arial"/>
              </a:defRPr>
            </a:pPr>
            <a:r>
              <a:rPr sz="4350" b="1">
                <a:solidFill>
                  <a:srgbClr val="176B82"/>
                </a:solidFill>
                <a:latin typeface="Arial"/>
                <a:ea typeface="Arial"/>
                <a:cs typeface="Arial"/>
              </a:rPr>
              <a:t>1983–2020</a:t>
            </a:r>
          </a:p>
        </p:txBody>
      </p:sp>
      <p:sp>
        <p:nvSpPr>
          <p:cNvPr id="8" name="">
            <a:extLst xmlns:a="http://schemas.openxmlformats.org/drawingml/2006/main">
              <a:ext uri="{FF2B5EF4-FFF2-40B4-BE49-F238E27FC236}">
                <a16:creationId xmlns:a16="http://schemas.microsoft.com/office/drawing/2014/main" id="{38AC67B5-05A0-4A28-ACFF-4E45A815CF63}"/>
              </a:ext>
            </a:extLst>
          </p:cNvPr>
          <p:cNvSpPr>
            <a:spLocks xmlns:a="http://schemas.openxmlformats.org/drawingml/2006/main" noGrp="1"/>
          </p:cNvSpPr>
          <p:nvPr/>
        </p:nvSpPr>
        <p:spPr>
          <a:xfrm xmlns:a="http://schemas.openxmlformats.org/drawingml/2006/main">
            <a:off x="7810500" y="26193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043"/>
                </a:solidFill>
                <a:latin typeface="Arial"/>
                <a:ea typeface="Arial"/>
                <a:cs typeface="Arial"/>
              </a:defRPr>
            </a:pPr>
            <a:r>
              <a:rPr sz="1950" b="0">
                <a:solidFill>
                  <a:srgbClr val="173043"/>
                </a:solidFill>
                <a:latin typeface="Arial"/>
                <a:ea typeface="Arial"/>
                <a:cs typeface="Arial"/>
              </a:rPr>
              <a:t>model years</a:t>
            </a:r>
          </a:p>
        </p:txBody>
      </p:sp>
      <p:sp>
        <p:nvSpPr>
          <p:cNvPr id="9" name="">
            <a:extLst xmlns:a="http://schemas.openxmlformats.org/drawingml/2006/main">
              <a:ext uri="{FF2B5EF4-FFF2-40B4-BE49-F238E27FC236}">
                <a16:creationId xmlns:a16="http://schemas.microsoft.com/office/drawing/2014/main" id="{366ACF79-DAC9-4CD4-AB6B-A533C957D99D}"/>
              </a:ext>
            </a:extLst>
          </p:cNvPr>
          <p:cNvSpPr>
            <a:spLocks xmlns:a="http://schemas.openxmlformats.org/drawingml/2006/main" noGrp="1"/>
          </p:cNvSpPr>
          <p:nvPr/>
        </p:nvSpPr>
        <p:spPr>
          <a:xfrm xmlns:a="http://schemas.openxmlformats.org/drawingml/2006/main">
            <a:off x="723900" y="37338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043"/>
                </a:solidFill>
                <a:latin typeface="Arial"/>
                <a:ea typeface="Arial"/>
                <a:cs typeface="Arial"/>
              </a:defRPr>
            </a:pPr>
            <a:r>
              <a:rPr sz="1950" b="0">
                <a:solidFill>
                  <a:srgbClr val="173043"/>
                </a:solidFill>
                <a:latin typeface="Arial"/>
                <a:ea typeface="Arial"/>
                <a:cs typeface="Arial"/>
              </a:rPr>
              <a:t>Source: public Kaggle dataset; local CSV copied from a public GitHub mirror.</a:t>
            </a:r>
          </a:p>
        </p:txBody>
      </p:sp>
      <p:sp>
        <p:nvSpPr>
          <p:cNvPr id="10" name="">
            <a:extLst xmlns:a="http://schemas.openxmlformats.org/drawingml/2006/main">
              <a:ext uri="{FF2B5EF4-FFF2-40B4-BE49-F238E27FC236}">
                <a16:creationId xmlns:a16="http://schemas.microsoft.com/office/drawing/2014/main" id="{4D8FFA24-1BD3-4B15-9D7F-D43BCF702170}"/>
              </a:ext>
            </a:extLst>
          </p:cNvPr>
          <p:cNvSpPr>
            <a:spLocks xmlns:a="http://schemas.openxmlformats.org/drawingml/2006/main" noGrp="1"/>
          </p:cNvSpPr>
          <p:nvPr/>
        </p:nvSpPr>
        <p:spPr>
          <a:xfrm xmlns:a="http://schemas.openxmlformats.org/drawingml/2006/main">
            <a:off x="723900" y="47625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65E43"/>
                </a:solidFill>
                <a:latin typeface="Arial"/>
                <a:ea typeface="Arial"/>
                <a:cs typeface="Arial"/>
              </a:defRPr>
            </a:pPr>
            <a:r>
              <a:rPr sz="2025" b="1">
                <a:solidFill>
                  <a:srgbClr val="B65E43"/>
                </a:solidFill>
                <a:latin typeface="Arial"/>
                <a:ea typeface="Arial"/>
                <a:cs typeface="Arial"/>
              </a:rPr>
              <a:t>Caution: the target is an asking price. Listing dates and location are unavailable.</a:t>
            </a:r>
          </a:p>
        </p:txBody>
      </p:sp>
    </p:spTree>
    <p:extLst>
      <p:ext uri="{BB962C8B-B14F-4D97-AF65-F5344CB8AC3E}">
        <p14:creationId xmlns:p14="http://schemas.microsoft.com/office/powerpoint/2010/main" val="5034867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118BCE-E9E9-40EB-9E08-0624B4AAA1EF}"/>
              </a:ext>
            </a:extLst>
          </p:cNvPr>
          <p:cNvSpPr>
            <a:spLocks xmlns:a="http://schemas.openxmlformats.org/drawingml/2006/main" noGrp="1"/>
          </p:cNvSpPr>
          <p:nvPr/>
        </p:nvSpPr>
        <p:spPr>
          <a:xfrm xmlns:a="http://schemas.openxmlformats.org/drawingml/2006/main">
            <a:off x="666750" y="4286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043"/>
                </a:solidFill>
                <a:latin typeface="Arial"/>
                <a:ea typeface="Arial"/>
                <a:cs typeface="Arial"/>
              </a:defRPr>
            </a:pPr>
            <a:r>
              <a:rPr sz="3000" b="1">
                <a:solidFill>
                  <a:srgbClr val="173043"/>
                </a:solidFill>
                <a:latin typeface="Arial"/>
                <a:ea typeface="Arial"/>
                <a:cs typeface="Arial"/>
              </a:rPr>
              <a:t>Newer cars tend to list for more</a:t>
            </a:r>
          </a:p>
        </p:txBody>
      </p:sp>
      <p:sp>
        <p:nvSpPr>
          <p:cNvPr id="2" name="">
            <a:extLst xmlns:a="http://schemas.openxmlformats.org/drawingml/2006/main">
              <a:ext uri="{FF2B5EF4-FFF2-40B4-BE49-F238E27FC236}">
                <a16:creationId xmlns:a16="http://schemas.microsoft.com/office/drawing/2014/main" id="{69AA32FB-5BF8-46BC-A114-96D025C18A96}"/>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6B"/>
                </a:solidFill>
                <a:latin typeface="Arial"/>
                <a:ea typeface="Arial"/>
                <a:cs typeface="Arial"/>
              </a:defRPr>
            </a:pPr>
            <a:r>
              <a:rPr sz="1350" b="0">
                <a:solidFill>
                  <a:srgbClr val="50616B"/>
                </a:solidFill>
                <a:latin typeface="Arial"/>
                <a:ea typeface="Arial"/>
                <a:cs typeface="Arial"/>
              </a:rPr>
              <a:t>04</a:t>
            </a:r>
          </a:p>
        </p:txBody>
      </p:sp>
      <p:graphicFrame>
        <p:nvGraphicFramePr>
          <p:cNvPr id="11" name="Chart"/>
          <p:cNvGraphicFramePr/>
          <p:nvPr/>
        </p:nvGraphicFramePr>
        <p:xfrm>
          <a:off xmlns:a="http://schemas.openxmlformats.org/drawingml/2006/main" x="742950" y="1381125"/>
          <a:ext xmlns:a="http://schemas.openxmlformats.org/drawingml/2006/main" cx="8096250" cy="4191000"/>
        </p:xfrm>
        <a:graphic xmlns:a="http://schemas.openxmlformats.org/drawingml/2006/main">
          <a:graphicData uri="http://schemas.openxmlformats.org/drawingml/2006/chart">
            <c:chart xmlns:r="http://schemas.openxmlformats.org/officeDocument/2006/relationships" xmlns:c="http://schemas.openxmlformats.org/drawingml/2006/chart" r:id="R4284514363bb4615"/>
          </a:graphicData>
        </a:graphic>
      </p:graphicFrame>
      <p:sp>
        <p:nvSpPr>
          <p:cNvPr id="4" name="">
            <a:extLst xmlns:a="http://schemas.openxmlformats.org/drawingml/2006/main">
              <a:ext uri="{FF2B5EF4-FFF2-40B4-BE49-F238E27FC236}">
                <a16:creationId xmlns:a16="http://schemas.microsoft.com/office/drawing/2014/main" id="{0E79D54F-C20D-4B47-A9F5-AAB5A7380491}"/>
              </a:ext>
            </a:extLst>
          </p:cNvPr>
          <p:cNvSpPr>
            <a:spLocks xmlns:a="http://schemas.openxmlformats.org/drawingml/2006/main" noGrp="1"/>
          </p:cNvSpPr>
          <p:nvPr/>
        </p:nvSpPr>
        <p:spPr>
          <a:xfrm xmlns:a="http://schemas.openxmlformats.org/drawingml/2006/main">
            <a:off x="742950" y="561975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0616B"/>
                </a:solidFill>
                <a:latin typeface="Arial"/>
                <a:ea typeface="Arial"/>
                <a:cs typeface="Arial"/>
              </a:defRPr>
            </a:pPr>
            <a:r>
              <a:rPr sz="1575" b="0">
                <a:solidFill>
                  <a:srgbClr val="50616B"/>
                </a:solidFill>
                <a:latin typeface="Arial"/>
                <a:ea typeface="Arial"/>
                <a:cs typeface="Arial"/>
              </a:rPr>
              <a:t>Median price</a:t>
            </a:r>
          </a:p>
          <a:p xmlns:a="http://schemas.openxmlformats.org/drawingml/2006/main">
            <a:pPr>
              <a:defRPr sz="1575" b="0">
                <a:solidFill>
                  <a:srgbClr val="50616B"/>
                </a:solidFill>
                <a:latin typeface="Arial"/>
                <a:ea typeface="Arial"/>
                <a:cs typeface="Arial"/>
              </a:defRPr>
            </a:pPr>
            <a:r>
              <a:rPr sz="1575" b="0">
                <a:solidFill>
                  <a:srgbClr val="50616B"/>
                </a:solidFill>
                <a:latin typeface="Arial"/>
                <a:ea typeface="Arial"/>
                <a:cs typeface="Arial"/>
              </a:rPr>
              <a:t>(thousand INR)</a:t>
            </a:r>
          </a:p>
        </p:txBody>
      </p:sp>
      <p:sp>
        <p:nvSpPr>
          <p:cNvPr id="5" name="">
            <a:extLst xmlns:a="http://schemas.openxmlformats.org/drawingml/2006/main">
              <a:ext uri="{FF2B5EF4-FFF2-40B4-BE49-F238E27FC236}">
                <a16:creationId xmlns:a16="http://schemas.microsoft.com/office/drawing/2014/main" id="{758562FC-14E0-499D-A1F5-0028FF58AACC}"/>
              </a:ext>
            </a:extLst>
          </p:cNvPr>
          <p:cNvSpPr>
            <a:spLocks xmlns:a="http://schemas.openxmlformats.org/drawingml/2006/main" noGrp="1"/>
          </p:cNvSpPr>
          <p:nvPr/>
        </p:nvSpPr>
        <p:spPr>
          <a:xfrm xmlns:a="http://schemas.openxmlformats.org/drawingml/2006/main">
            <a:off x="9239250" y="1905000"/>
            <a:ext cx="2333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76B82"/>
                </a:solidFill>
                <a:latin typeface="Arial"/>
                <a:ea typeface="Arial"/>
                <a:cs typeface="Arial"/>
              </a:defRPr>
            </a:pPr>
            <a:r>
              <a:rPr sz="3525" b="1">
                <a:solidFill>
                  <a:srgbClr val="176B82"/>
                </a:solidFill>
                <a:latin typeface="Arial"/>
                <a:ea typeface="Arial"/>
                <a:cs typeface="Arial"/>
              </a:rPr>
              <a:t>ρ = 0.71</a:t>
            </a:r>
          </a:p>
        </p:txBody>
      </p:sp>
      <p:sp>
        <p:nvSpPr>
          <p:cNvPr id="6" name="">
            <a:extLst xmlns:a="http://schemas.openxmlformats.org/drawingml/2006/main">
              <a:ext uri="{FF2B5EF4-FFF2-40B4-BE49-F238E27FC236}">
                <a16:creationId xmlns:a16="http://schemas.microsoft.com/office/drawing/2014/main" id="{90E217C5-CE55-416C-8476-3C705C217DC2}"/>
              </a:ext>
            </a:extLst>
          </p:cNvPr>
          <p:cNvSpPr>
            <a:spLocks xmlns:a="http://schemas.openxmlformats.org/drawingml/2006/main" noGrp="1"/>
          </p:cNvSpPr>
          <p:nvPr/>
        </p:nvSpPr>
        <p:spPr>
          <a:xfrm xmlns:a="http://schemas.openxmlformats.org/drawingml/2006/main">
            <a:off x="9239250" y="2762250"/>
            <a:ext cx="2333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043"/>
                </a:solidFill>
                <a:latin typeface="Arial"/>
                <a:ea typeface="Arial"/>
                <a:cs typeface="Arial"/>
              </a:defRPr>
            </a:pPr>
            <a:r>
              <a:rPr sz="1875" b="0">
                <a:solidFill>
                  <a:srgbClr val="173043"/>
                </a:solidFill>
                <a:latin typeface="Arial"/>
                <a:ea typeface="Arial"/>
                <a:cs typeface="Arial"/>
              </a:rPr>
              <a:t>Spearman correlation between model year and price in training data.</a:t>
            </a:r>
          </a:p>
        </p:txBody>
      </p:sp>
      <p:sp>
        <p:nvSpPr>
          <p:cNvPr id="7" name="">
            <a:extLst xmlns:a="http://schemas.openxmlformats.org/drawingml/2006/main">
              <a:ext uri="{FF2B5EF4-FFF2-40B4-BE49-F238E27FC236}">
                <a16:creationId xmlns:a16="http://schemas.microsoft.com/office/drawing/2014/main" id="{3CF706AD-35B6-4B5F-B8F6-DB45094B404E}"/>
              </a:ext>
            </a:extLst>
          </p:cNvPr>
          <p:cNvSpPr>
            <a:spLocks xmlns:a="http://schemas.openxmlformats.org/drawingml/2006/main" noGrp="1"/>
          </p:cNvSpPr>
          <p:nvPr/>
        </p:nvSpPr>
        <p:spPr>
          <a:xfrm xmlns:a="http://schemas.openxmlformats.org/drawingml/2006/main">
            <a:off x="9239250" y="423862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3043"/>
                </a:solidFill>
                <a:latin typeface="Arial"/>
                <a:ea typeface="Arial"/>
                <a:cs typeface="Arial"/>
              </a:defRPr>
            </a:pPr>
            <a:r>
              <a:rPr sz="1575" b="0">
                <a:solidFill>
                  <a:srgbClr val="173043"/>
                </a:solidFill>
                <a:latin typeface="Arial"/>
                <a:ea typeface="Arial"/>
                <a:cs typeface="Arial"/>
              </a:rPr>
              <a:t>2000: INR 98k</a:t>
            </a:r>
          </a:p>
          <a:p xmlns:a="http://schemas.openxmlformats.org/drawingml/2006/main">
            <a:pPr>
              <a:defRPr sz="1575" b="0">
                <a:solidFill>
                  <a:srgbClr val="173043"/>
                </a:solidFill>
                <a:latin typeface="Arial"/>
                <a:ea typeface="Arial"/>
                <a:cs typeface="Arial"/>
              </a:defRPr>
            </a:pPr>
            <a:r>
              <a:rPr sz="1575" b="0">
                <a:solidFill>
                  <a:srgbClr val="173043"/>
                </a:solidFill>
                <a:latin typeface="Arial"/>
                <a:ea typeface="Arial"/>
                <a:cs typeface="Arial"/>
              </a:rPr>
              <a:t>2019: INR 695k</a:t>
            </a:r>
          </a:p>
        </p:txBody>
      </p:sp>
      <p:sp>
        <p:nvSpPr>
          <p:cNvPr id="8" name="">
            <a:extLst xmlns:a="http://schemas.openxmlformats.org/drawingml/2006/main">
              <a:ext uri="{FF2B5EF4-FFF2-40B4-BE49-F238E27FC236}">
                <a16:creationId xmlns:a16="http://schemas.microsoft.com/office/drawing/2014/main" id="{67934EDA-0BEB-4FD8-8746-992F95B2F81C}"/>
              </a:ext>
            </a:extLst>
          </p:cNvPr>
          <p:cNvSpPr>
            <a:spLocks xmlns:a="http://schemas.openxmlformats.org/drawingml/2006/main" noGrp="1"/>
          </p:cNvSpPr>
          <p:nvPr/>
        </p:nvSpPr>
        <p:spPr>
          <a:xfrm xmlns:a="http://schemas.openxmlformats.org/drawingml/2006/main">
            <a:off x="9239250" y="495300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65E43"/>
                </a:solidFill>
                <a:latin typeface="Arial"/>
                <a:ea typeface="Arial"/>
                <a:cs typeface="Arial"/>
              </a:defRPr>
            </a:pPr>
            <a:r>
              <a:rPr sz="1650" b="1">
                <a:solidFill>
                  <a:srgbClr val="B65E43"/>
                </a:solidFill>
                <a:latin typeface="Arial"/>
                <a:ea typeface="Arial"/>
                <a:cs typeface="Arial"/>
              </a:rPr>
              <a:t>Association only</a:t>
            </a:r>
          </a:p>
        </p:txBody>
      </p:sp>
    </p:spTree>
    <p:extLst>
      <p:ext uri="{BB962C8B-B14F-4D97-AF65-F5344CB8AC3E}">
        <p14:creationId xmlns:p14="http://schemas.microsoft.com/office/powerpoint/2010/main" val="282753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46D8F9D-DAEB-41EF-8BD5-678930D5AADF}"/>
              </a:ext>
            </a:extLst>
          </p:cNvPr>
          <p:cNvSpPr>
            <a:spLocks xmlns:a="http://schemas.openxmlformats.org/drawingml/2006/main" noGrp="1"/>
          </p:cNvSpPr>
          <p:nvPr/>
        </p:nvSpPr>
        <p:spPr>
          <a:xfrm xmlns:a="http://schemas.openxmlformats.org/drawingml/2006/main">
            <a:off x="666750" y="4286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043"/>
                </a:solidFill>
                <a:latin typeface="Arial"/>
                <a:ea typeface="Arial"/>
                <a:cs typeface="Arial"/>
              </a:defRPr>
            </a:pPr>
            <a:r>
              <a:rPr sz="3000" b="1">
                <a:solidFill>
                  <a:srgbClr val="173043"/>
                </a:solidFill>
                <a:latin typeface="Arial"/>
                <a:ea typeface="Arial"/>
                <a:cs typeface="Arial"/>
              </a:rPr>
              <a:t>Prices vary across fuel groups</a:t>
            </a:r>
          </a:p>
        </p:txBody>
      </p:sp>
      <p:sp>
        <p:nvSpPr>
          <p:cNvPr id="2" name="">
            <a:extLst xmlns:a="http://schemas.openxmlformats.org/drawingml/2006/main">
              <a:ext uri="{FF2B5EF4-FFF2-40B4-BE49-F238E27FC236}">
                <a16:creationId xmlns:a16="http://schemas.microsoft.com/office/drawing/2014/main" id="{0144D49B-5172-4139-A8A2-2E834BADF7C7}"/>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6B"/>
                </a:solidFill>
                <a:latin typeface="Arial"/>
                <a:ea typeface="Arial"/>
                <a:cs typeface="Arial"/>
              </a:defRPr>
            </a:pPr>
            <a:r>
              <a:rPr sz="1350" b="0">
                <a:solidFill>
                  <a:srgbClr val="50616B"/>
                </a:solidFill>
                <a:latin typeface="Arial"/>
                <a:ea typeface="Arial"/>
                <a:cs typeface="Arial"/>
              </a:rPr>
              <a:t>05</a:t>
            </a:r>
          </a:p>
        </p:txBody>
      </p:sp>
      <p:graphicFrame>
        <p:nvGraphicFramePr>
          <p:cNvPr id="12" name="Chart"/>
          <p:cNvGraphicFramePr/>
          <p:nvPr/>
        </p:nvGraphicFramePr>
        <p:xfrm>
          <a:off xmlns:a="http://schemas.openxmlformats.org/drawingml/2006/main" x="742950" y="1476375"/>
          <a:ext xmlns:a="http://schemas.openxmlformats.org/drawingml/2006/main" cx="7239000" cy="4048125"/>
        </p:xfrm>
        <a:graphic xmlns:a="http://schemas.openxmlformats.org/drawingml/2006/main">
          <a:graphicData uri="http://schemas.openxmlformats.org/drawingml/2006/chart">
            <c:chart xmlns:r="http://schemas.openxmlformats.org/officeDocument/2006/relationships" xmlns:c="http://schemas.openxmlformats.org/drawingml/2006/chart" r:id="Rf8af0bb1ee904c55"/>
          </a:graphicData>
        </a:graphic>
      </p:graphicFrame>
      <p:sp>
        <p:nvSpPr>
          <p:cNvPr id="4" name="">
            <a:extLst xmlns:a="http://schemas.openxmlformats.org/drawingml/2006/main">
              <a:ext uri="{FF2B5EF4-FFF2-40B4-BE49-F238E27FC236}">
                <a16:creationId xmlns:a16="http://schemas.microsoft.com/office/drawing/2014/main" id="{ED8699C0-1A8A-47A8-9B16-D3D6D840ED97}"/>
              </a:ext>
            </a:extLst>
          </p:cNvPr>
          <p:cNvSpPr>
            <a:spLocks xmlns:a="http://schemas.openxmlformats.org/drawingml/2006/main" noGrp="1"/>
          </p:cNvSpPr>
          <p:nvPr/>
        </p:nvSpPr>
        <p:spPr>
          <a:xfrm xmlns:a="http://schemas.openxmlformats.org/drawingml/2006/main">
            <a:off x="742950" y="56197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0616B"/>
                </a:solidFill>
                <a:latin typeface="Arial"/>
                <a:ea typeface="Arial"/>
                <a:cs typeface="Arial"/>
              </a:defRPr>
            </a:pPr>
            <a:r>
              <a:rPr sz="1575" b="0">
                <a:solidFill>
                  <a:srgbClr val="50616B"/>
                </a:solidFill>
                <a:latin typeface="Arial"/>
                <a:ea typeface="Arial"/>
                <a:cs typeface="Arial"/>
              </a:rPr>
              <a:t>Median price (thousand INR)</a:t>
            </a:r>
          </a:p>
        </p:txBody>
      </p:sp>
      <p:sp>
        <p:nvSpPr>
          <p:cNvPr id="5" name="">
            <a:extLst xmlns:a="http://schemas.openxmlformats.org/drawingml/2006/main">
              <a:ext uri="{FF2B5EF4-FFF2-40B4-BE49-F238E27FC236}">
                <a16:creationId xmlns:a16="http://schemas.microsoft.com/office/drawing/2014/main" id="{21612E12-D2E1-4E78-BF1B-8C81B96AECDF}"/>
              </a:ext>
            </a:extLst>
          </p:cNvPr>
          <p:cNvSpPr>
            <a:spLocks xmlns:a="http://schemas.openxmlformats.org/drawingml/2006/main" noGrp="1"/>
          </p:cNvSpPr>
          <p:nvPr/>
        </p:nvSpPr>
        <p:spPr>
          <a:xfrm xmlns:a="http://schemas.openxmlformats.org/drawingml/2006/main">
            <a:off x="8620125" y="180975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6B82"/>
                </a:solidFill>
                <a:latin typeface="Arial"/>
                <a:ea typeface="Arial"/>
                <a:cs typeface="Arial"/>
              </a:defRPr>
            </a:pPr>
            <a:r>
              <a:rPr sz="3225" b="1">
                <a:solidFill>
                  <a:srgbClr val="176B82"/>
                </a:solidFill>
                <a:latin typeface="Arial"/>
                <a:ea typeface="Arial"/>
                <a:cs typeface="Arial"/>
              </a:rPr>
              <a:t>INR 400k</a:t>
            </a:r>
          </a:p>
        </p:txBody>
      </p:sp>
      <p:sp>
        <p:nvSpPr>
          <p:cNvPr id="6" name="">
            <a:extLst xmlns:a="http://schemas.openxmlformats.org/drawingml/2006/main">
              <a:ext uri="{FF2B5EF4-FFF2-40B4-BE49-F238E27FC236}">
                <a16:creationId xmlns:a16="http://schemas.microsoft.com/office/drawing/2014/main" id="{60F6DF6B-4AC8-4D0E-89C4-F6698B699F23}"/>
              </a:ext>
            </a:extLst>
          </p:cNvPr>
          <p:cNvSpPr>
            <a:spLocks xmlns:a="http://schemas.openxmlformats.org/drawingml/2006/main" noGrp="1"/>
          </p:cNvSpPr>
          <p:nvPr/>
        </p:nvSpPr>
        <p:spPr>
          <a:xfrm xmlns:a="http://schemas.openxmlformats.org/drawingml/2006/main">
            <a:off x="8620125" y="24574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043"/>
                </a:solidFill>
                <a:latin typeface="Arial"/>
                <a:ea typeface="Arial"/>
                <a:cs typeface="Arial"/>
              </a:defRPr>
            </a:pPr>
            <a:r>
              <a:rPr sz="1725" b="0">
                <a:solidFill>
                  <a:srgbClr val="173043"/>
                </a:solidFill>
                <a:latin typeface="Arial"/>
                <a:ea typeface="Arial"/>
                <a:cs typeface="Arial"/>
              </a:rPr>
              <a:t>training median</a:t>
            </a:r>
          </a:p>
        </p:txBody>
      </p:sp>
      <p:sp>
        <p:nvSpPr>
          <p:cNvPr id="7" name="">
            <a:extLst xmlns:a="http://schemas.openxmlformats.org/drawingml/2006/main">
              <a:ext uri="{FF2B5EF4-FFF2-40B4-BE49-F238E27FC236}">
                <a16:creationId xmlns:a16="http://schemas.microsoft.com/office/drawing/2014/main" id="{1F21D8A5-1DB2-4942-AA52-CF9C7BF3CBD6}"/>
              </a:ext>
            </a:extLst>
          </p:cNvPr>
          <p:cNvSpPr>
            <a:spLocks xmlns:a="http://schemas.openxmlformats.org/drawingml/2006/main" noGrp="1"/>
          </p:cNvSpPr>
          <p:nvPr/>
        </p:nvSpPr>
        <p:spPr>
          <a:xfrm xmlns:a="http://schemas.openxmlformats.org/drawingml/2006/main">
            <a:off x="8620125" y="3476625"/>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6B82"/>
                </a:solidFill>
                <a:latin typeface="Arial"/>
                <a:ea typeface="Arial"/>
                <a:cs typeface="Arial"/>
              </a:defRPr>
            </a:pPr>
            <a:r>
              <a:rPr sz="3225" b="1">
                <a:solidFill>
                  <a:srgbClr val="176B82"/>
                </a:solidFill>
                <a:latin typeface="Arial"/>
                <a:ea typeface="Arial"/>
                <a:cs typeface="Arial"/>
              </a:rPr>
              <a:t>INR 523k</a:t>
            </a:r>
          </a:p>
        </p:txBody>
      </p:sp>
      <p:sp>
        <p:nvSpPr>
          <p:cNvPr id="8" name="">
            <a:extLst xmlns:a="http://schemas.openxmlformats.org/drawingml/2006/main">
              <a:ext uri="{FF2B5EF4-FFF2-40B4-BE49-F238E27FC236}">
                <a16:creationId xmlns:a16="http://schemas.microsoft.com/office/drawing/2014/main" id="{5A3BCB04-3133-419E-8781-3AAA90EF615C}"/>
              </a:ext>
            </a:extLst>
          </p:cNvPr>
          <p:cNvSpPr>
            <a:spLocks xmlns:a="http://schemas.openxmlformats.org/drawingml/2006/main" noGrp="1"/>
          </p:cNvSpPr>
          <p:nvPr/>
        </p:nvSpPr>
        <p:spPr>
          <a:xfrm xmlns:a="http://schemas.openxmlformats.org/drawingml/2006/main">
            <a:off x="8620125" y="412432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043"/>
                </a:solidFill>
                <a:latin typeface="Arial"/>
                <a:ea typeface="Arial"/>
                <a:cs typeface="Arial"/>
              </a:defRPr>
            </a:pPr>
            <a:r>
              <a:rPr sz="1725" b="0">
                <a:solidFill>
                  <a:srgbClr val="173043"/>
                </a:solidFill>
                <a:latin typeface="Arial"/>
                <a:ea typeface="Arial"/>
                <a:cs typeface="Arial"/>
              </a:rPr>
              <a:t>training mean</a:t>
            </a:r>
          </a:p>
        </p:txBody>
      </p:sp>
      <p:sp>
        <p:nvSpPr>
          <p:cNvPr id="9" name="">
            <a:extLst xmlns:a="http://schemas.openxmlformats.org/drawingml/2006/main">
              <a:ext uri="{FF2B5EF4-FFF2-40B4-BE49-F238E27FC236}">
                <a16:creationId xmlns:a16="http://schemas.microsoft.com/office/drawing/2014/main" id="{ABD41B4F-DA73-4F35-B46F-5D35F96DDE7F}"/>
              </a:ext>
            </a:extLst>
          </p:cNvPr>
          <p:cNvSpPr>
            <a:spLocks xmlns:a="http://schemas.openxmlformats.org/drawingml/2006/main" noGrp="1"/>
          </p:cNvSpPr>
          <p:nvPr/>
        </p:nvSpPr>
        <p:spPr>
          <a:xfrm xmlns:a="http://schemas.openxmlformats.org/drawingml/2006/main">
            <a:off x="8620125" y="4953000"/>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65E43"/>
                </a:solidFill>
                <a:latin typeface="Arial"/>
                <a:ea typeface="Arial"/>
                <a:cs typeface="Arial"/>
              </a:defRPr>
            </a:pPr>
            <a:r>
              <a:rPr sz="1650" b="0">
                <a:solidFill>
                  <a:srgbClr val="B65E43"/>
                </a:solidFill>
                <a:latin typeface="Arial"/>
                <a:ea typeface="Arial"/>
                <a:cs typeface="Arial"/>
              </a:rPr>
              <a:t>The mean exceeds the median because expensive listings form a long tail.</a:t>
            </a:r>
          </a:p>
        </p:txBody>
      </p:sp>
    </p:spTree>
    <p:extLst>
      <p:ext uri="{BB962C8B-B14F-4D97-AF65-F5344CB8AC3E}">
        <p14:creationId xmlns:p14="http://schemas.microsoft.com/office/powerpoint/2010/main" val="20305860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BC48DB-A5CF-406F-B373-467AE353E463}"/>
              </a:ext>
            </a:extLst>
          </p:cNvPr>
          <p:cNvSpPr>
            <a:spLocks xmlns:a="http://schemas.openxmlformats.org/drawingml/2006/main" noGrp="1"/>
          </p:cNvSpPr>
          <p:nvPr/>
        </p:nvSpPr>
        <p:spPr>
          <a:xfrm xmlns:a="http://schemas.openxmlformats.org/drawingml/2006/main">
            <a:off x="666750" y="4286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043"/>
                </a:solidFill>
                <a:latin typeface="Arial"/>
                <a:ea typeface="Arial"/>
                <a:cs typeface="Arial"/>
              </a:defRPr>
            </a:pPr>
            <a:r>
              <a:rPr sz="3000" b="1">
                <a:solidFill>
                  <a:srgbClr val="173043"/>
                </a:solidFill>
                <a:latin typeface="Arial"/>
                <a:ea typeface="Arial"/>
                <a:cs typeface="Arial"/>
              </a:rPr>
              <a:t>Cleaning and feature engineering</a:t>
            </a:r>
          </a:p>
        </p:txBody>
      </p:sp>
      <p:sp>
        <p:nvSpPr>
          <p:cNvPr id="2" name="">
            <a:extLst xmlns:a="http://schemas.openxmlformats.org/drawingml/2006/main">
              <a:ext uri="{FF2B5EF4-FFF2-40B4-BE49-F238E27FC236}">
                <a16:creationId xmlns:a16="http://schemas.microsoft.com/office/drawing/2014/main" id="{7C36AD2F-A352-419A-AAD5-D3EAC041D121}"/>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6B"/>
                </a:solidFill>
                <a:latin typeface="Arial"/>
                <a:ea typeface="Arial"/>
                <a:cs typeface="Arial"/>
              </a:defRPr>
            </a:pPr>
            <a:r>
              <a:rPr sz="1350" b="0">
                <a:solidFill>
                  <a:srgbClr val="50616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C42FD14-0311-4FEF-AF71-FB6886E609A2}"/>
              </a:ext>
            </a:extLst>
          </p:cNvPr>
          <p:cNvSpPr>
            <a:spLocks xmlns:a="http://schemas.openxmlformats.org/drawingml/2006/main" noGrp="1"/>
          </p:cNvSpPr>
          <p:nvPr/>
        </p:nvSpPr>
        <p:spPr>
          <a:xfrm xmlns:a="http://schemas.openxmlformats.org/drawingml/2006/main">
            <a:off x="723900" y="1524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6B82"/>
                </a:solidFill>
                <a:latin typeface="Arial"/>
                <a:ea typeface="Arial"/>
                <a:cs typeface="Arial"/>
              </a:defRPr>
            </a:pPr>
            <a:r>
              <a:rPr sz="2250" b="1">
                <a:solidFill>
                  <a:srgbClr val="176B82"/>
                </a:solidFill>
                <a:latin typeface="Arial"/>
                <a:ea typeface="Arial"/>
                <a:cs typeface="Arial"/>
              </a:rPr>
              <a:t>1,202 exact duplicates removed</a:t>
            </a:r>
          </a:p>
        </p:txBody>
      </p:sp>
      <p:sp>
        <p:nvSpPr>
          <p:cNvPr id="4" name="">
            <a:extLst xmlns:a="http://schemas.openxmlformats.org/drawingml/2006/main">
              <a:ext uri="{FF2B5EF4-FFF2-40B4-BE49-F238E27FC236}">
                <a16:creationId xmlns:a16="http://schemas.microsoft.com/office/drawing/2014/main" id="{B4340712-1321-45AF-8EE4-B56C81A97BB2}"/>
              </a:ext>
            </a:extLst>
          </p:cNvPr>
          <p:cNvSpPr>
            <a:spLocks xmlns:a="http://schemas.openxmlformats.org/drawingml/2006/main" noGrp="1"/>
          </p:cNvSpPr>
          <p:nvPr/>
        </p:nvSpPr>
        <p:spPr>
          <a:xfrm xmlns:a="http://schemas.openxmlformats.org/drawingml/2006/main">
            <a:off x="723900" y="20193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043"/>
                </a:solidFill>
                <a:latin typeface="Arial"/>
                <a:ea typeface="Arial"/>
                <a:cs typeface="Arial"/>
              </a:defRPr>
            </a:pPr>
            <a:r>
              <a:rPr sz="1800" b="0">
                <a:solidFill>
                  <a:srgbClr val="173043"/>
                </a:solidFill>
                <a:latin typeface="Arial"/>
                <a:ea typeface="Arial"/>
                <a:cs typeface="Arial"/>
              </a:rPr>
              <a:t>6,926 distinct rows remain; all basic price, year and mileage validity checks pass.</a:t>
            </a:r>
          </a:p>
        </p:txBody>
      </p:sp>
      <p:sp>
        <p:nvSpPr>
          <p:cNvPr id="5" name="">
            <a:extLst xmlns:a="http://schemas.openxmlformats.org/drawingml/2006/main">
              <a:ext uri="{FF2B5EF4-FFF2-40B4-BE49-F238E27FC236}">
                <a16:creationId xmlns:a16="http://schemas.microsoft.com/office/drawing/2014/main" id="{310D68DE-DE03-455E-B106-8D4C302540BC}"/>
              </a:ext>
            </a:extLst>
          </p:cNvPr>
          <p:cNvSpPr>
            <a:spLocks xmlns:a="http://schemas.openxmlformats.org/drawingml/2006/main" noGrp="1"/>
          </p:cNvSpPr>
          <p:nvPr/>
        </p:nvSpPr>
        <p:spPr>
          <a:xfrm xmlns:a="http://schemas.openxmlformats.org/drawingml/2006/main">
            <a:off x="723900" y="30003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6B82"/>
                </a:solidFill>
                <a:latin typeface="Arial"/>
                <a:ea typeface="Arial"/>
                <a:cs typeface="Arial"/>
              </a:defRPr>
            </a:pPr>
            <a:r>
              <a:rPr sz="2250" b="1">
                <a:solidFill>
                  <a:srgbClr val="176B82"/>
                </a:solidFill>
                <a:latin typeface="Arial"/>
                <a:ea typeface="Arial"/>
                <a:cs typeface="Arial"/>
              </a:rPr>
              <a:t>Numeric specifications parsed</a:t>
            </a:r>
          </a:p>
        </p:txBody>
      </p:sp>
      <p:sp>
        <p:nvSpPr>
          <p:cNvPr id="6" name="">
            <a:extLst xmlns:a="http://schemas.openxmlformats.org/drawingml/2006/main">
              <a:ext uri="{FF2B5EF4-FFF2-40B4-BE49-F238E27FC236}">
                <a16:creationId xmlns:a16="http://schemas.microsoft.com/office/drawing/2014/main" id="{CB33F8DC-79A8-48FF-91F3-3EED8CC07B71}"/>
              </a:ext>
            </a:extLst>
          </p:cNvPr>
          <p:cNvSpPr>
            <a:spLocks xmlns:a="http://schemas.openxmlformats.org/drawingml/2006/main" noGrp="1"/>
          </p:cNvSpPr>
          <p:nvPr/>
        </p:nvSpPr>
        <p:spPr>
          <a:xfrm xmlns:a="http://schemas.openxmlformats.org/drawingml/2006/main">
            <a:off x="723900" y="349567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043"/>
                </a:solidFill>
                <a:latin typeface="Arial"/>
                <a:ea typeface="Arial"/>
                <a:cs typeface="Arial"/>
              </a:defRPr>
            </a:pPr>
            <a:r>
              <a:rPr sz="1800" b="0">
                <a:solidFill>
                  <a:srgbClr val="173043"/>
                </a:solidFill>
                <a:latin typeface="Arial"/>
                <a:ea typeface="Arial"/>
                <a:cs typeface="Arial"/>
              </a:rPr>
              <a:t>Engine capacity (cc) and power (bhp) come from text fields; out-of-range values become missing.</a:t>
            </a:r>
          </a:p>
        </p:txBody>
      </p:sp>
      <p:sp>
        <p:nvSpPr>
          <p:cNvPr id="7" name="">
            <a:extLst xmlns:a="http://schemas.openxmlformats.org/drawingml/2006/main">
              <a:ext uri="{FF2B5EF4-FFF2-40B4-BE49-F238E27FC236}">
                <a16:creationId xmlns:a16="http://schemas.microsoft.com/office/drawing/2014/main" id="{B4C7FDE4-12BE-4649-A9E5-4979380C6726}"/>
              </a:ext>
            </a:extLst>
          </p:cNvPr>
          <p:cNvSpPr>
            <a:spLocks xmlns:a="http://schemas.openxmlformats.org/drawingml/2006/main" noGrp="1"/>
          </p:cNvSpPr>
          <p:nvPr/>
        </p:nvSpPr>
        <p:spPr>
          <a:xfrm xmlns:a="http://schemas.openxmlformats.org/drawingml/2006/main">
            <a:off x="723900" y="45243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6B82"/>
                </a:solidFill>
                <a:latin typeface="Arial"/>
                <a:ea typeface="Arial"/>
                <a:cs typeface="Arial"/>
              </a:defRPr>
            </a:pPr>
            <a:r>
              <a:rPr sz="2250" b="1">
                <a:solidFill>
                  <a:srgbClr val="176B82"/>
                </a:solidFill>
                <a:latin typeface="Arial"/>
                <a:ea typeface="Arial"/>
                <a:cs typeface="Arial"/>
              </a:rPr>
              <a:t>Useful transformations</a:t>
            </a:r>
          </a:p>
        </p:txBody>
      </p:sp>
      <p:sp>
        <p:nvSpPr>
          <p:cNvPr id="8" name="">
            <a:extLst xmlns:a="http://schemas.openxmlformats.org/drawingml/2006/main">
              <a:ext uri="{FF2B5EF4-FFF2-40B4-BE49-F238E27FC236}">
                <a16:creationId xmlns:a16="http://schemas.microsoft.com/office/drawing/2014/main" id="{348F134A-2501-472E-857A-D176F5ECA4E5}"/>
              </a:ext>
            </a:extLst>
          </p:cNvPr>
          <p:cNvSpPr>
            <a:spLocks xmlns:a="http://schemas.openxmlformats.org/drawingml/2006/main" noGrp="1"/>
          </p:cNvSpPr>
          <p:nvPr/>
        </p:nvSpPr>
        <p:spPr>
          <a:xfrm xmlns:a="http://schemas.openxmlformats.org/drawingml/2006/main">
            <a:off x="723900" y="501967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043"/>
                </a:solidFill>
                <a:latin typeface="Arial"/>
                <a:ea typeface="Arial"/>
                <a:cs typeface="Arial"/>
              </a:defRPr>
            </a:pPr>
            <a:r>
              <a:rPr sz="1800" b="0">
                <a:solidFill>
                  <a:srgbClr val="173043"/>
                </a:solidFill>
                <a:latin typeface="Arial"/>
                <a:ea typeface="Arial"/>
                <a:cs typeface="Arial"/>
              </a:rPr>
              <a:t>Brand from the name; log(1 + km) for mileage skew; fold-fitted imputation, scaling and one-hot encoding.</a:t>
            </a:r>
          </a:p>
        </p:txBody>
      </p:sp>
    </p:spTree>
    <p:extLst>
      <p:ext uri="{BB962C8B-B14F-4D97-AF65-F5344CB8AC3E}">
        <p14:creationId xmlns:p14="http://schemas.microsoft.com/office/powerpoint/2010/main" val="13900680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C93E20-5E4E-48A9-AC83-B49B29885594}"/>
              </a:ext>
            </a:extLst>
          </p:cNvPr>
          <p:cNvSpPr>
            <a:spLocks xmlns:a="http://schemas.openxmlformats.org/drawingml/2006/main" noGrp="1"/>
          </p:cNvSpPr>
          <p:nvPr/>
        </p:nvSpPr>
        <p:spPr>
          <a:xfrm xmlns:a="http://schemas.openxmlformats.org/drawingml/2006/main">
            <a:off x="666750" y="4286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043"/>
                </a:solidFill>
                <a:latin typeface="Arial"/>
                <a:ea typeface="Arial"/>
                <a:cs typeface="Arial"/>
              </a:defRPr>
            </a:pPr>
            <a:r>
              <a:rPr sz="3000" b="1">
                <a:solidFill>
                  <a:srgbClr val="173043"/>
                </a:solidFill>
                <a:latin typeface="Arial"/>
                <a:ea typeface="Arial"/>
                <a:cs typeface="Arial"/>
              </a:rPr>
              <a:t>Evaluation design</a:t>
            </a:r>
          </a:p>
        </p:txBody>
      </p:sp>
      <p:sp>
        <p:nvSpPr>
          <p:cNvPr id="2" name="">
            <a:extLst xmlns:a="http://schemas.openxmlformats.org/drawingml/2006/main">
              <a:ext uri="{FF2B5EF4-FFF2-40B4-BE49-F238E27FC236}">
                <a16:creationId xmlns:a16="http://schemas.microsoft.com/office/drawing/2014/main" id="{36402551-60B9-4F4B-BF91-7631AAAA350F}"/>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6B"/>
                </a:solidFill>
                <a:latin typeface="Arial"/>
                <a:ea typeface="Arial"/>
                <a:cs typeface="Arial"/>
              </a:defRPr>
            </a:pPr>
            <a:r>
              <a:rPr sz="1350" b="0">
                <a:solidFill>
                  <a:srgbClr val="50616B"/>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BD9FA46A-6909-4F93-8ACF-B819AE84231B}"/>
              </a:ext>
            </a:extLst>
          </p:cNvPr>
          <p:cNvSpPr>
            <a:spLocks xmlns:a="http://schemas.openxmlformats.org/drawingml/2006/main" noGrp="1"/>
          </p:cNvSpPr>
          <p:nvPr/>
        </p:nvSpPr>
        <p:spPr>
          <a:xfrm xmlns:a="http://schemas.openxmlformats.org/drawingml/2006/main">
            <a:off x="742950" y="1666875"/>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6B82"/>
                </a:solidFill>
                <a:latin typeface="Arial"/>
                <a:ea typeface="Arial"/>
                <a:cs typeface="Arial"/>
              </a:defRPr>
            </a:pPr>
            <a:r>
              <a:rPr sz="4350" b="1">
                <a:solidFill>
                  <a:srgbClr val="176B82"/>
                </a:solidFill>
                <a:latin typeface="Arial"/>
                <a:ea typeface="Arial"/>
                <a:cs typeface="Arial"/>
              </a:rPr>
              <a:t>4,848</a:t>
            </a:r>
          </a:p>
        </p:txBody>
      </p:sp>
      <p:sp>
        <p:nvSpPr>
          <p:cNvPr id="4" name="">
            <a:extLst xmlns:a="http://schemas.openxmlformats.org/drawingml/2006/main">
              <a:ext uri="{FF2B5EF4-FFF2-40B4-BE49-F238E27FC236}">
                <a16:creationId xmlns:a16="http://schemas.microsoft.com/office/drawing/2014/main" id="{8CC8E78C-489F-4594-B04E-22FDB2825037}"/>
              </a:ext>
            </a:extLst>
          </p:cNvPr>
          <p:cNvSpPr>
            <a:spLocks xmlns:a="http://schemas.openxmlformats.org/drawingml/2006/main" noGrp="1"/>
          </p:cNvSpPr>
          <p:nvPr/>
        </p:nvSpPr>
        <p:spPr>
          <a:xfrm xmlns:a="http://schemas.openxmlformats.org/drawingml/2006/main">
            <a:off x="742950" y="24288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043"/>
                </a:solidFill>
                <a:latin typeface="Arial"/>
                <a:ea typeface="Arial"/>
                <a:cs typeface="Arial"/>
              </a:defRPr>
            </a:pPr>
            <a:r>
              <a:rPr sz="1950" b="0">
                <a:solidFill>
                  <a:srgbClr val="173043"/>
                </a:solidFill>
                <a:latin typeface="Arial"/>
                <a:ea typeface="Arial"/>
                <a:cs typeface="Arial"/>
              </a:rPr>
              <a:t>training</a:t>
            </a:r>
          </a:p>
        </p:txBody>
      </p:sp>
      <p:sp>
        <p:nvSpPr>
          <p:cNvPr id="5" name="">
            <a:extLst xmlns:a="http://schemas.openxmlformats.org/drawingml/2006/main">
              <a:ext uri="{FF2B5EF4-FFF2-40B4-BE49-F238E27FC236}">
                <a16:creationId xmlns:a16="http://schemas.microsoft.com/office/drawing/2014/main" id="{26399031-2BC4-4B6F-AEE1-0AB8B7C19A55}"/>
              </a:ext>
            </a:extLst>
          </p:cNvPr>
          <p:cNvSpPr>
            <a:spLocks xmlns:a="http://schemas.openxmlformats.org/drawingml/2006/main" noGrp="1"/>
          </p:cNvSpPr>
          <p:nvPr/>
        </p:nvSpPr>
        <p:spPr>
          <a:xfrm xmlns:a="http://schemas.openxmlformats.org/drawingml/2006/main">
            <a:off x="4524375" y="1666875"/>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6B82"/>
                </a:solidFill>
                <a:latin typeface="Arial"/>
                <a:ea typeface="Arial"/>
                <a:cs typeface="Arial"/>
              </a:defRPr>
            </a:pPr>
            <a:r>
              <a:rPr sz="4350" b="1">
                <a:solidFill>
                  <a:srgbClr val="176B82"/>
                </a:solidFill>
                <a:latin typeface="Arial"/>
                <a:ea typeface="Arial"/>
                <a:cs typeface="Arial"/>
              </a:rPr>
              <a:t>1,039</a:t>
            </a:r>
          </a:p>
        </p:txBody>
      </p:sp>
      <p:sp>
        <p:nvSpPr>
          <p:cNvPr id="6" name="">
            <a:extLst xmlns:a="http://schemas.openxmlformats.org/drawingml/2006/main">
              <a:ext uri="{FF2B5EF4-FFF2-40B4-BE49-F238E27FC236}">
                <a16:creationId xmlns:a16="http://schemas.microsoft.com/office/drawing/2014/main" id="{773A1BFA-73EB-4ECE-B1CB-49D78F35510F}"/>
              </a:ext>
            </a:extLst>
          </p:cNvPr>
          <p:cNvSpPr>
            <a:spLocks xmlns:a="http://schemas.openxmlformats.org/drawingml/2006/main" noGrp="1"/>
          </p:cNvSpPr>
          <p:nvPr/>
        </p:nvSpPr>
        <p:spPr>
          <a:xfrm xmlns:a="http://schemas.openxmlformats.org/drawingml/2006/main">
            <a:off x="4524375" y="24288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043"/>
                </a:solidFill>
                <a:latin typeface="Arial"/>
                <a:ea typeface="Arial"/>
                <a:cs typeface="Arial"/>
              </a:defRPr>
            </a:pPr>
            <a:r>
              <a:rPr sz="1950" b="0">
                <a:solidFill>
                  <a:srgbClr val="173043"/>
                </a:solidFill>
                <a:latin typeface="Arial"/>
                <a:ea typeface="Arial"/>
                <a:cs typeface="Arial"/>
              </a:rPr>
              <a:t>validation</a:t>
            </a:r>
          </a:p>
        </p:txBody>
      </p:sp>
      <p:sp>
        <p:nvSpPr>
          <p:cNvPr id="7" name="">
            <a:extLst xmlns:a="http://schemas.openxmlformats.org/drawingml/2006/main">
              <a:ext uri="{FF2B5EF4-FFF2-40B4-BE49-F238E27FC236}">
                <a16:creationId xmlns:a16="http://schemas.microsoft.com/office/drawing/2014/main" id="{20CB5325-3082-4692-8FEE-FC2EA9E351D8}"/>
              </a:ext>
            </a:extLst>
          </p:cNvPr>
          <p:cNvSpPr>
            <a:spLocks xmlns:a="http://schemas.openxmlformats.org/drawingml/2006/main" noGrp="1"/>
          </p:cNvSpPr>
          <p:nvPr/>
        </p:nvSpPr>
        <p:spPr>
          <a:xfrm xmlns:a="http://schemas.openxmlformats.org/drawingml/2006/main">
            <a:off x="8305800" y="1666875"/>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6B82"/>
                </a:solidFill>
                <a:latin typeface="Arial"/>
                <a:ea typeface="Arial"/>
                <a:cs typeface="Arial"/>
              </a:defRPr>
            </a:pPr>
            <a:r>
              <a:rPr sz="4350" b="1">
                <a:solidFill>
                  <a:srgbClr val="176B82"/>
                </a:solidFill>
                <a:latin typeface="Arial"/>
                <a:ea typeface="Arial"/>
                <a:cs typeface="Arial"/>
              </a:rPr>
              <a:t>1,039</a:t>
            </a:r>
          </a:p>
        </p:txBody>
      </p:sp>
      <p:sp>
        <p:nvSpPr>
          <p:cNvPr id="8" name="">
            <a:extLst xmlns:a="http://schemas.openxmlformats.org/drawingml/2006/main">
              <a:ext uri="{FF2B5EF4-FFF2-40B4-BE49-F238E27FC236}">
                <a16:creationId xmlns:a16="http://schemas.microsoft.com/office/drawing/2014/main" id="{4A1F3AE9-B263-444B-BFE9-FA2AA37625E7}"/>
              </a:ext>
            </a:extLst>
          </p:cNvPr>
          <p:cNvSpPr>
            <a:spLocks xmlns:a="http://schemas.openxmlformats.org/drawingml/2006/main" noGrp="1"/>
          </p:cNvSpPr>
          <p:nvPr/>
        </p:nvSpPr>
        <p:spPr>
          <a:xfrm xmlns:a="http://schemas.openxmlformats.org/drawingml/2006/main">
            <a:off x="8305800" y="24288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043"/>
                </a:solidFill>
                <a:latin typeface="Arial"/>
                <a:ea typeface="Arial"/>
                <a:cs typeface="Arial"/>
              </a:defRPr>
            </a:pPr>
            <a:r>
              <a:rPr sz="1950" b="0">
                <a:solidFill>
                  <a:srgbClr val="173043"/>
                </a:solidFill>
                <a:latin typeface="Arial"/>
                <a:ea typeface="Arial"/>
                <a:cs typeface="Arial"/>
              </a:rPr>
              <a:t>untouched test</a:t>
            </a:r>
          </a:p>
        </p:txBody>
      </p:sp>
      <p:sp>
        <p:nvSpPr>
          <p:cNvPr id="9" name="">
            <a:extLst xmlns:a="http://schemas.openxmlformats.org/drawingml/2006/main">
              <a:ext uri="{FF2B5EF4-FFF2-40B4-BE49-F238E27FC236}">
                <a16:creationId xmlns:a16="http://schemas.microsoft.com/office/drawing/2014/main" id="{27796D80-187D-4727-9FDF-325EA1522219}"/>
              </a:ext>
            </a:extLst>
          </p:cNvPr>
          <p:cNvSpPr>
            <a:spLocks xmlns:a="http://schemas.openxmlformats.org/drawingml/2006/main" noGrp="1"/>
          </p:cNvSpPr>
          <p:nvPr/>
        </p:nvSpPr>
        <p:spPr>
          <a:xfrm xmlns:a="http://schemas.openxmlformats.org/drawingml/2006/main">
            <a:off x="742950" y="37338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043"/>
                </a:solidFill>
                <a:latin typeface="Arial"/>
                <a:ea typeface="Arial"/>
                <a:cs typeface="Arial"/>
              </a:defRPr>
            </a:pPr>
            <a:r>
              <a:rPr sz="2025" b="0">
                <a:solidFill>
                  <a:srgbClr val="173043"/>
                </a:solidFill>
                <a:latin typeface="Arial"/>
                <a:ea typeface="Arial"/>
                <a:cs typeface="Arial"/>
              </a:rPr>
              <a:t>Median baseline, linear regression, decision tree and KNN are compared on validation MAE.</a:t>
            </a:r>
          </a:p>
        </p:txBody>
      </p:sp>
      <p:sp>
        <p:nvSpPr>
          <p:cNvPr id="10" name="">
            <a:extLst xmlns:a="http://schemas.openxmlformats.org/drawingml/2006/main">
              <a:ext uri="{FF2B5EF4-FFF2-40B4-BE49-F238E27FC236}">
                <a16:creationId xmlns:a16="http://schemas.microsoft.com/office/drawing/2014/main" id="{18BF5373-DA10-4A01-A98B-DFB251254A28}"/>
              </a:ext>
            </a:extLst>
          </p:cNvPr>
          <p:cNvSpPr>
            <a:spLocks xmlns:a="http://schemas.openxmlformats.org/drawingml/2006/main" noGrp="1"/>
          </p:cNvSpPr>
          <p:nvPr/>
        </p:nvSpPr>
        <p:spPr>
          <a:xfrm xmlns:a="http://schemas.openxmlformats.org/drawingml/2006/main">
            <a:off x="742950" y="4905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65E43"/>
                </a:solidFill>
                <a:latin typeface="Arial"/>
                <a:ea typeface="Arial"/>
                <a:cs typeface="Arial"/>
              </a:defRPr>
            </a:pPr>
            <a:r>
              <a:rPr sz="2025" b="1">
                <a:solidFill>
                  <a:srgbClr val="B65E43"/>
                </a:solidFill>
                <a:latin typeface="Arial"/>
                <a:ea typeface="Arial"/>
                <a:cs typeface="Arial"/>
              </a:rPr>
              <a:t>Tree: 3-fold CV on training rows. Best depth 10; minimum leaf size 3.</a:t>
            </a:r>
          </a:p>
        </p:txBody>
      </p:sp>
    </p:spTree>
    <p:extLst>
      <p:ext uri="{BB962C8B-B14F-4D97-AF65-F5344CB8AC3E}">
        <p14:creationId xmlns:p14="http://schemas.microsoft.com/office/powerpoint/2010/main" val="19543548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E1AE79-CE34-41D0-9DAA-CCEBAD3A1B8E}"/>
              </a:ext>
            </a:extLst>
          </p:cNvPr>
          <p:cNvSpPr>
            <a:spLocks xmlns:a="http://schemas.openxmlformats.org/drawingml/2006/main" noGrp="1"/>
          </p:cNvSpPr>
          <p:nvPr/>
        </p:nvSpPr>
        <p:spPr>
          <a:xfrm xmlns:a="http://schemas.openxmlformats.org/drawingml/2006/main">
            <a:off x="666750" y="4286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043"/>
                </a:solidFill>
                <a:latin typeface="Arial"/>
                <a:ea typeface="Arial"/>
                <a:cs typeface="Arial"/>
              </a:defRPr>
            </a:pPr>
            <a:r>
              <a:rPr sz="3000" b="1">
                <a:solidFill>
                  <a:srgbClr val="173043"/>
                </a:solidFill>
                <a:latin typeface="Arial"/>
                <a:ea typeface="Arial"/>
                <a:cs typeface="Arial"/>
              </a:rPr>
              <a:t>KNN has the lowest validation MAE</a:t>
            </a:r>
          </a:p>
        </p:txBody>
      </p:sp>
      <p:sp>
        <p:nvSpPr>
          <p:cNvPr id="2" name="">
            <a:extLst xmlns:a="http://schemas.openxmlformats.org/drawingml/2006/main">
              <a:ext uri="{FF2B5EF4-FFF2-40B4-BE49-F238E27FC236}">
                <a16:creationId xmlns:a16="http://schemas.microsoft.com/office/drawing/2014/main" id="{139D8176-4E0C-4485-80E5-97E5FF9B9C36}"/>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6B"/>
                </a:solidFill>
                <a:latin typeface="Arial"/>
                <a:ea typeface="Arial"/>
                <a:cs typeface="Arial"/>
              </a:defRPr>
            </a:pPr>
            <a:r>
              <a:rPr sz="1350" b="0">
                <a:solidFill>
                  <a:srgbClr val="50616B"/>
                </a:solidFill>
                <a:latin typeface="Arial"/>
                <a:ea typeface="Arial"/>
                <a:cs typeface="Arial"/>
              </a:rPr>
              <a:t>08</a:t>
            </a:r>
          </a:p>
        </p:txBody>
      </p:sp>
      <p:graphicFrame>
        <p:nvGraphicFramePr>
          <p:cNvPr id="10" name="Chart"/>
          <p:cNvGraphicFramePr/>
          <p:nvPr/>
        </p:nvGraphicFramePr>
        <p:xfrm>
          <a:off xmlns:a="http://schemas.openxmlformats.org/drawingml/2006/main" x="742950" y="1619250"/>
          <a:ext xmlns:a="http://schemas.openxmlformats.org/drawingml/2006/main" cx="8001000" cy="4000500"/>
        </p:xfrm>
        <a:graphic xmlns:a="http://schemas.openxmlformats.org/drawingml/2006/main">
          <a:graphicData uri="http://schemas.openxmlformats.org/drawingml/2006/chart">
            <c:chart xmlns:r="http://schemas.openxmlformats.org/officeDocument/2006/relationships" xmlns:c="http://schemas.openxmlformats.org/drawingml/2006/chart" r:id="R4326fd4aa8dc48d7"/>
          </a:graphicData>
        </a:graphic>
      </p:graphicFrame>
      <p:sp>
        <p:nvSpPr>
          <p:cNvPr id="4" name="">
            <a:extLst xmlns:a="http://schemas.openxmlformats.org/drawingml/2006/main">
              <a:ext uri="{FF2B5EF4-FFF2-40B4-BE49-F238E27FC236}">
                <a16:creationId xmlns:a16="http://schemas.microsoft.com/office/drawing/2014/main" id="{55A365F2-1B44-4C3E-B769-8B41CD04AE04}"/>
              </a:ext>
            </a:extLst>
          </p:cNvPr>
          <p:cNvSpPr>
            <a:spLocks xmlns:a="http://schemas.openxmlformats.org/drawingml/2006/main" noGrp="1"/>
          </p:cNvSpPr>
          <p:nvPr/>
        </p:nvSpPr>
        <p:spPr>
          <a:xfrm xmlns:a="http://schemas.openxmlformats.org/drawingml/2006/main">
            <a:off x="742950" y="57150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0616B"/>
                </a:solidFill>
                <a:latin typeface="Arial"/>
                <a:ea typeface="Arial"/>
                <a:cs typeface="Arial"/>
              </a:defRPr>
            </a:pPr>
            <a:r>
              <a:rPr sz="1575" b="0">
                <a:solidFill>
                  <a:srgbClr val="50616B"/>
                </a:solidFill>
                <a:latin typeface="Arial"/>
                <a:ea typeface="Arial"/>
                <a:cs typeface="Arial"/>
              </a:rPr>
              <a:t>MAE (thousand INR)</a:t>
            </a:r>
          </a:p>
        </p:txBody>
      </p:sp>
      <p:sp>
        <p:nvSpPr>
          <p:cNvPr id="5" name="">
            <a:extLst xmlns:a="http://schemas.openxmlformats.org/drawingml/2006/main">
              <a:ext uri="{FF2B5EF4-FFF2-40B4-BE49-F238E27FC236}">
                <a16:creationId xmlns:a16="http://schemas.microsoft.com/office/drawing/2014/main" id="{544D19AF-AD3E-4E47-8366-8E911BE3432D}"/>
              </a:ext>
            </a:extLst>
          </p:cNvPr>
          <p:cNvSpPr>
            <a:spLocks xmlns:a="http://schemas.openxmlformats.org/drawingml/2006/main" noGrp="1"/>
          </p:cNvSpPr>
          <p:nvPr/>
        </p:nvSpPr>
        <p:spPr>
          <a:xfrm xmlns:a="http://schemas.openxmlformats.org/drawingml/2006/main">
            <a:off x="9096375" y="2095500"/>
            <a:ext cx="233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76B82"/>
                </a:solidFill>
                <a:latin typeface="Arial"/>
                <a:ea typeface="Arial"/>
                <a:cs typeface="Arial"/>
              </a:defRPr>
            </a:pPr>
            <a:r>
              <a:rPr sz="3525" b="1">
                <a:solidFill>
                  <a:srgbClr val="176B82"/>
                </a:solidFill>
                <a:latin typeface="Arial"/>
                <a:ea typeface="Arial"/>
                <a:cs typeface="Arial"/>
              </a:rPr>
              <a:t>90.4k</a:t>
            </a:r>
          </a:p>
        </p:txBody>
      </p:sp>
      <p:sp>
        <p:nvSpPr>
          <p:cNvPr id="6" name="">
            <a:extLst xmlns:a="http://schemas.openxmlformats.org/drawingml/2006/main">
              <a:ext uri="{FF2B5EF4-FFF2-40B4-BE49-F238E27FC236}">
                <a16:creationId xmlns:a16="http://schemas.microsoft.com/office/drawing/2014/main" id="{B95C5D33-44B5-4B90-BED7-70918F6D1A3C}"/>
              </a:ext>
            </a:extLst>
          </p:cNvPr>
          <p:cNvSpPr>
            <a:spLocks xmlns:a="http://schemas.openxmlformats.org/drawingml/2006/main" noGrp="1"/>
          </p:cNvSpPr>
          <p:nvPr/>
        </p:nvSpPr>
        <p:spPr>
          <a:xfrm xmlns:a="http://schemas.openxmlformats.org/drawingml/2006/main">
            <a:off x="9096375" y="2905125"/>
            <a:ext cx="2333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043"/>
                </a:solidFill>
                <a:latin typeface="Arial"/>
                <a:ea typeface="Arial"/>
                <a:cs typeface="Arial"/>
              </a:defRPr>
            </a:pPr>
            <a:r>
              <a:rPr sz="1875" b="0">
                <a:solidFill>
                  <a:srgbClr val="173043"/>
                </a:solidFill>
                <a:latin typeface="Arial"/>
                <a:ea typeface="Arial"/>
                <a:cs typeface="Arial"/>
              </a:rPr>
              <a:t>INR validation MAE for KNN</a:t>
            </a:r>
          </a:p>
        </p:txBody>
      </p:sp>
      <p:sp>
        <p:nvSpPr>
          <p:cNvPr id="7" name="">
            <a:extLst xmlns:a="http://schemas.openxmlformats.org/drawingml/2006/main">
              <a:ext uri="{FF2B5EF4-FFF2-40B4-BE49-F238E27FC236}">
                <a16:creationId xmlns:a16="http://schemas.microsoft.com/office/drawing/2014/main" id="{E8D88C91-6F2B-44BE-B651-D47B50890C9F}"/>
              </a:ext>
            </a:extLst>
          </p:cNvPr>
          <p:cNvSpPr>
            <a:spLocks xmlns:a="http://schemas.openxmlformats.org/drawingml/2006/main" noGrp="1"/>
          </p:cNvSpPr>
          <p:nvPr/>
        </p:nvSpPr>
        <p:spPr>
          <a:xfrm xmlns:a="http://schemas.openxmlformats.org/drawingml/2006/main">
            <a:off x="9096375" y="4572000"/>
            <a:ext cx="2333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65E43"/>
                </a:solidFill>
                <a:latin typeface="Arial"/>
                <a:ea typeface="Arial"/>
                <a:cs typeface="Arial"/>
              </a:defRPr>
            </a:pPr>
            <a:r>
              <a:rPr sz="1800" b="1">
                <a:solidFill>
                  <a:srgbClr val="B65E43"/>
                </a:solidFill>
                <a:latin typeface="Arial"/>
                <a:ea typeface="Arial"/>
                <a:cs typeface="Arial"/>
              </a:rPr>
              <a:t>Model chosen before viewing the test set.</a:t>
            </a:r>
          </a:p>
        </p:txBody>
      </p:sp>
    </p:spTree>
    <p:extLst>
      <p:ext uri="{BB962C8B-B14F-4D97-AF65-F5344CB8AC3E}">
        <p14:creationId xmlns:p14="http://schemas.microsoft.com/office/powerpoint/2010/main" val="16218691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BFC4E0-88D3-4DD6-8D50-9DD3BEEEEFBC}"/>
              </a:ext>
            </a:extLst>
          </p:cNvPr>
          <p:cNvSpPr>
            <a:spLocks xmlns:a="http://schemas.openxmlformats.org/drawingml/2006/main" noGrp="1"/>
          </p:cNvSpPr>
          <p:nvPr/>
        </p:nvSpPr>
        <p:spPr>
          <a:xfrm xmlns:a="http://schemas.openxmlformats.org/drawingml/2006/main">
            <a:off x="666750" y="4286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043"/>
                </a:solidFill>
                <a:latin typeface="Arial"/>
                <a:ea typeface="Arial"/>
                <a:cs typeface="Arial"/>
              </a:defRPr>
            </a:pPr>
            <a:r>
              <a:rPr sz="3000" b="1">
                <a:solidFill>
                  <a:srgbClr val="173043"/>
                </a:solidFill>
                <a:latin typeface="Arial"/>
                <a:ea typeface="Arial"/>
                <a:cs typeface="Arial"/>
              </a:rPr>
              <a:t>Held-out test: MAE INR 98,139</a:t>
            </a:r>
          </a:p>
        </p:txBody>
      </p:sp>
      <p:sp>
        <p:nvSpPr>
          <p:cNvPr id="2" name="">
            <a:extLst xmlns:a="http://schemas.openxmlformats.org/drawingml/2006/main">
              <a:ext uri="{FF2B5EF4-FFF2-40B4-BE49-F238E27FC236}">
                <a16:creationId xmlns:a16="http://schemas.microsoft.com/office/drawing/2014/main" id="{4CCE46D2-DEE4-4D58-9173-05F6168D0606}"/>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6B"/>
                </a:solidFill>
                <a:latin typeface="Arial"/>
                <a:ea typeface="Arial"/>
                <a:cs typeface="Arial"/>
              </a:defRPr>
            </a:pPr>
            <a:r>
              <a:rPr sz="1350" b="0">
                <a:solidFill>
                  <a:srgbClr val="50616B"/>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2E6E16CE-6ABB-463B-84FA-1F680C14636B}"/>
              </a:ext>
            </a:extLst>
          </p:cNvPr>
          <p:cNvSpPr>
            <a:spLocks xmlns:a="http://schemas.openxmlformats.org/drawingml/2006/main" noGrp="1"/>
          </p:cNvSpPr>
          <p:nvPr/>
        </p:nvSpPr>
        <p:spPr>
          <a:xfrm xmlns:a="http://schemas.openxmlformats.org/drawingml/2006/main">
            <a:off x="742950" y="1666875"/>
            <a:ext cx="247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176B82"/>
                </a:solidFill>
                <a:latin typeface="Arial"/>
                <a:ea typeface="Arial"/>
                <a:cs typeface="Arial"/>
              </a:defRPr>
            </a:pPr>
            <a:r>
              <a:rPr sz="5025" b="1">
                <a:solidFill>
                  <a:srgbClr val="176B82"/>
                </a:solidFill>
                <a:latin typeface="Arial"/>
                <a:ea typeface="Arial"/>
                <a:cs typeface="Arial"/>
              </a:rPr>
              <a:t>98k</a:t>
            </a:r>
          </a:p>
        </p:txBody>
      </p:sp>
      <p:sp>
        <p:nvSpPr>
          <p:cNvPr id="4" name="">
            <a:extLst xmlns:a="http://schemas.openxmlformats.org/drawingml/2006/main">
              <a:ext uri="{FF2B5EF4-FFF2-40B4-BE49-F238E27FC236}">
                <a16:creationId xmlns:a16="http://schemas.microsoft.com/office/drawing/2014/main" id="{B5632487-8DEE-409C-944B-BA427E1A73F3}"/>
              </a:ext>
            </a:extLst>
          </p:cNvPr>
          <p:cNvSpPr>
            <a:spLocks xmlns:a="http://schemas.openxmlformats.org/drawingml/2006/main" noGrp="1"/>
          </p:cNvSpPr>
          <p:nvPr/>
        </p:nvSpPr>
        <p:spPr>
          <a:xfrm xmlns:a="http://schemas.openxmlformats.org/drawingml/2006/main">
            <a:off x="742950" y="25717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043"/>
                </a:solidFill>
                <a:latin typeface="Arial"/>
                <a:ea typeface="Arial"/>
                <a:cs typeface="Arial"/>
              </a:defRPr>
            </a:pPr>
            <a:r>
              <a:rPr sz="2025" b="0">
                <a:solidFill>
                  <a:srgbClr val="173043"/>
                </a:solidFill>
                <a:latin typeface="Arial"/>
                <a:ea typeface="Arial"/>
                <a:cs typeface="Arial"/>
              </a:rPr>
              <a:t>KNN test MAE</a:t>
            </a:r>
          </a:p>
        </p:txBody>
      </p:sp>
      <p:sp>
        <p:nvSpPr>
          <p:cNvPr id="5" name="">
            <a:extLst xmlns:a="http://schemas.openxmlformats.org/drawingml/2006/main">
              <a:ext uri="{FF2B5EF4-FFF2-40B4-BE49-F238E27FC236}">
                <a16:creationId xmlns:a16="http://schemas.microsoft.com/office/drawing/2014/main" id="{1E10F3E7-13C2-4E1F-A6B8-C3DD8C679BFC}"/>
              </a:ext>
            </a:extLst>
          </p:cNvPr>
          <p:cNvSpPr>
            <a:spLocks xmlns:a="http://schemas.openxmlformats.org/drawingml/2006/main" noGrp="1"/>
          </p:cNvSpPr>
          <p:nvPr/>
        </p:nvSpPr>
        <p:spPr>
          <a:xfrm xmlns:a="http://schemas.openxmlformats.org/drawingml/2006/main">
            <a:off x="4429125" y="1666875"/>
            <a:ext cx="295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50616B"/>
                </a:solidFill>
                <a:latin typeface="Arial"/>
                <a:ea typeface="Arial"/>
                <a:cs typeface="Arial"/>
              </a:defRPr>
            </a:pPr>
            <a:r>
              <a:rPr sz="5025" b="1">
                <a:solidFill>
                  <a:srgbClr val="50616B"/>
                </a:solidFill>
                <a:latin typeface="Arial"/>
                <a:ea typeface="Arial"/>
                <a:cs typeface="Arial"/>
              </a:rPr>
              <a:t>264k</a:t>
            </a:r>
          </a:p>
        </p:txBody>
      </p:sp>
      <p:sp>
        <p:nvSpPr>
          <p:cNvPr id="6" name="">
            <a:extLst xmlns:a="http://schemas.openxmlformats.org/drawingml/2006/main">
              <a:ext uri="{FF2B5EF4-FFF2-40B4-BE49-F238E27FC236}">
                <a16:creationId xmlns:a16="http://schemas.microsoft.com/office/drawing/2014/main" id="{44FBD876-A59B-41CD-A9F4-563AB51FD117}"/>
              </a:ext>
            </a:extLst>
          </p:cNvPr>
          <p:cNvSpPr>
            <a:spLocks xmlns:a="http://schemas.openxmlformats.org/drawingml/2006/main" noGrp="1"/>
          </p:cNvSpPr>
          <p:nvPr/>
        </p:nvSpPr>
        <p:spPr>
          <a:xfrm xmlns:a="http://schemas.openxmlformats.org/drawingml/2006/main">
            <a:off x="4429125" y="257175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043"/>
                </a:solidFill>
                <a:latin typeface="Arial"/>
                <a:ea typeface="Arial"/>
                <a:cs typeface="Arial"/>
              </a:defRPr>
            </a:pPr>
            <a:r>
              <a:rPr sz="2025" b="0">
                <a:solidFill>
                  <a:srgbClr val="173043"/>
                </a:solidFill>
                <a:latin typeface="Arial"/>
                <a:ea typeface="Arial"/>
                <a:cs typeface="Arial"/>
              </a:rPr>
              <a:t>median baseline test MAE</a:t>
            </a:r>
          </a:p>
        </p:txBody>
      </p:sp>
      <p:sp>
        <p:nvSpPr>
          <p:cNvPr id="7" name="">
            <a:extLst xmlns:a="http://schemas.openxmlformats.org/drawingml/2006/main">
              <a:ext uri="{FF2B5EF4-FFF2-40B4-BE49-F238E27FC236}">
                <a16:creationId xmlns:a16="http://schemas.microsoft.com/office/drawing/2014/main" id="{76D83398-7F51-47A7-A15B-D8D404A563E6}"/>
              </a:ext>
            </a:extLst>
          </p:cNvPr>
          <p:cNvSpPr>
            <a:spLocks xmlns:a="http://schemas.openxmlformats.org/drawingml/2006/main" noGrp="1"/>
          </p:cNvSpPr>
          <p:nvPr/>
        </p:nvSpPr>
        <p:spPr>
          <a:xfrm xmlns:a="http://schemas.openxmlformats.org/drawingml/2006/main">
            <a:off x="8763000" y="17621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76B82"/>
                </a:solidFill>
                <a:latin typeface="Arial"/>
                <a:ea typeface="Arial"/>
                <a:cs typeface="Arial"/>
              </a:defRPr>
            </a:pPr>
            <a:r>
              <a:rPr sz="3375" b="1">
                <a:solidFill>
                  <a:srgbClr val="176B82"/>
                </a:solidFill>
                <a:latin typeface="Arial"/>
                <a:ea typeface="Arial"/>
                <a:cs typeface="Arial"/>
              </a:rPr>
              <a:t>R² 0.828</a:t>
            </a:r>
          </a:p>
        </p:txBody>
      </p:sp>
      <p:graphicFrame>
        <p:nvGraphicFramePr>
          <p:cNvPr id="17" name="Chart"/>
          <p:cNvGraphicFramePr/>
          <p:nvPr/>
        </p:nvGraphicFramePr>
        <p:xfrm>
          <a:off xmlns:a="http://schemas.openxmlformats.org/drawingml/2006/main" x="857250" y="3714750"/>
          <a:ext xmlns:a="http://schemas.openxmlformats.org/drawingml/2006/main" cx="10191750" cy="2333625"/>
        </p:xfrm>
        <a:graphic xmlns:a="http://schemas.openxmlformats.org/drawingml/2006/main">
          <a:graphicData uri="http://schemas.openxmlformats.org/drawingml/2006/chart">
            <c:chart xmlns:r="http://schemas.openxmlformats.org/officeDocument/2006/relationships" xmlns:c="http://schemas.openxmlformats.org/drawingml/2006/chart" r:id="Re1b6c3d02e2942e8"/>
          </a:graphicData>
        </a:graphic>
      </p:graphicFrame>
      <p:sp>
        <p:nvSpPr>
          <p:cNvPr id="9" name="">
            <a:extLst xmlns:a="http://schemas.openxmlformats.org/drawingml/2006/main">
              <a:ext uri="{FF2B5EF4-FFF2-40B4-BE49-F238E27FC236}">
                <a16:creationId xmlns:a16="http://schemas.microsoft.com/office/drawing/2014/main" id="{B90C161C-5A54-4093-9422-A21BA1B5767A}"/>
              </a:ext>
            </a:extLst>
          </p:cNvPr>
          <p:cNvSpPr>
            <a:spLocks xmlns:a="http://schemas.openxmlformats.org/drawingml/2006/main" noGrp="1"/>
          </p:cNvSpPr>
          <p:nvPr/>
        </p:nvSpPr>
        <p:spPr>
          <a:xfrm xmlns:a="http://schemas.openxmlformats.org/drawingml/2006/main">
            <a:off x="857250" y="6143625"/>
            <a:ext cx="8858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16B"/>
                </a:solidFill>
                <a:latin typeface="Arial"/>
                <a:ea typeface="Arial"/>
                <a:cs typeface="Arial"/>
              </a:defRPr>
            </a:pPr>
            <a:r>
              <a:rPr sz="1500" b="0">
                <a:solidFill>
                  <a:srgbClr val="50616B"/>
                </a:solidFill>
                <a:latin typeface="Arial"/>
                <a:ea typeface="Arial"/>
                <a:cs typeface="Arial"/>
              </a:rPr>
              <a:t>Mean absolute error by price quartile (Q4 = most expensive)</a:t>
            </a:r>
          </a:p>
        </p:txBody>
      </p:sp>
    </p:spTree>
    <p:extLst>
      <p:ext uri="{BB962C8B-B14F-4D97-AF65-F5344CB8AC3E}">
        <p14:creationId xmlns:p14="http://schemas.microsoft.com/office/powerpoint/2010/main" val="17010838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0153417-9BEE-4134-8E6B-D84AA86BE2F3}"/>
              </a:ext>
            </a:extLst>
          </p:cNvPr>
          <p:cNvSpPr>
            <a:spLocks xmlns:a="http://schemas.openxmlformats.org/drawingml/2006/main" noGrp="1"/>
          </p:cNvSpPr>
          <p:nvPr/>
        </p:nvSpPr>
        <p:spPr>
          <a:xfrm xmlns:a="http://schemas.openxmlformats.org/drawingml/2006/main">
            <a:off x="666750" y="4286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043"/>
                </a:solidFill>
                <a:latin typeface="Arial"/>
                <a:ea typeface="Arial"/>
                <a:cs typeface="Arial"/>
              </a:defRPr>
            </a:pPr>
            <a:r>
              <a:rPr sz="3000" b="1">
                <a:solidFill>
                  <a:srgbClr val="173043"/>
                </a:solidFill>
                <a:latin typeface="Arial"/>
                <a:ea typeface="Arial"/>
                <a:cs typeface="Arial"/>
              </a:rPr>
              <a:t>What remains for the final defense</a:t>
            </a:r>
          </a:p>
        </p:txBody>
      </p:sp>
      <p:sp>
        <p:nvSpPr>
          <p:cNvPr id="2" name="">
            <a:extLst xmlns:a="http://schemas.openxmlformats.org/drawingml/2006/main">
              <a:ext uri="{FF2B5EF4-FFF2-40B4-BE49-F238E27FC236}">
                <a16:creationId xmlns:a16="http://schemas.microsoft.com/office/drawing/2014/main" id="{00AB3205-ED4E-43B3-B387-4A384A332430}"/>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16B"/>
                </a:solidFill>
                <a:latin typeface="Arial"/>
                <a:ea typeface="Arial"/>
                <a:cs typeface="Arial"/>
              </a:defRPr>
            </a:pPr>
            <a:r>
              <a:rPr sz="1350" b="0">
                <a:solidFill>
                  <a:srgbClr val="50616B"/>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CFD6FA86-84E6-4685-94F5-5A133FD21218}"/>
              </a:ext>
            </a:extLst>
          </p:cNvPr>
          <p:cNvSpPr>
            <a:spLocks xmlns:a="http://schemas.openxmlformats.org/drawingml/2006/main" noGrp="1"/>
          </p:cNvSpPr>
          <p:nvPr/>
        </p:nvSpPr>
        <p:spPr>
          <a:xfrm xmlns:a="http://schemas.openxmlformats.org/drawingml/2006/main">
            <a:off x="723900" y="14763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65E43"/>
                </a:solidFill>
                <a:latin typeface="Arial"/>
                <a:ea typeface="Arial"/>
                <a:cs typeface="Arial"/>
              </a:defRPr>
            </a:pPr>
            <a:r>
              <a:rPr sz="2250" b="1">
                <a:solidFill>
                  <a:srgbClr val="B65E43"/>
                </a:solidFill>
                <a:latin typeface="Arial"/>
                <a:ea typeface="Arial"/>
                <a:cs typeface="Arial"/>
              </a:rPr>
              <a:t>Main limitation</a:t>
            </a:r>
          </a:p>
        </p:txBody>
      </p:sp>
      <p:sp>
        <p:nvSpPr>
          <p:cNvPr id="4" name="">
            <a:extLst xmlns:a="http://schemas.openxmlformats.org/drawingml/2006/main">
              <a:ext uri="{FF2B5EF4-FFF2-40B4-BE49-F238E27FC236}">
                <a16:creationId xmlns:a16="http://schemas.microsoft.com/office/drawing/2014/main" id="{3F03A1A1-88C7-4D77-999F-59C83886178F}"/>
              </a:ext>
            </a:extLst>
          </p:cNvPr>
          <p:cNvSpPr>
            <a:spLocks xmlns:a="http://schemas.openxmlformats.org/drawingml/2006/main" noGrp="1"/>
          </p:cNvSpPr>
          <p:nvPr/>
        </p:nvSpPr>
        <p:spPr>
          <a:xfrm xmlns:a="http://schemas.openxmlformats.org/drawingml/2006/main">
            <a:off x="723900" y="197167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043"/>
                </a:solidFill>
                <a:latin typeface="Arial"/>
                <a:ea typeface="Arial"/>
                <a:cs typeface="Arial"/>
              </a:defRPr>
            </a:pPr>
            <a:r>
              <a:rPr sz="1800" b="0">
                <a:solidFill>
                  <a:srgbClr val="173043"/>
                </a:solidFill>
                <a:latin typeface="Arial"/>
                <a:ea typeface="Arial"/>
                <a:cs typeface="Arial"/>
              </a:rPr>
              <a:t>Historical asking prices without listing date, region or confirmed transaction price.</a:t>
            </a:r>
          </a:p>
        </p:txBody>
      </p:sp>
      <p:sp>
        <p:nvSpPr>
          <p:cNvPr id="5" name="">
            <a:extLst xmlns:a="http://schemas.openxmlformats.org/drawingml/2006/main">
              <a:ext uri="{FF2B5EF4-FFF2-40B4-BE49-F238E27FC236}">
                <a16:creationId xmlns:a16="http://schemas.microsoft.com/office/drawing/2014/main" id="{8063B186-C5D7-472C-83E0-A8344A79207E}"/>
              </a:ext>
            </a:extLst>
          </p:cNvPr>
          <p:cNvSpPr>
            <a:spLocks xmlns:a="http://schemas.openxmlformats.org/drawingml/2006/main" noGrp="1"/>
          </p:cNvSpPr>
          <p:nvPr/>
        </p:nvSpPr>
        <p:spPr>
          <a:xfrm xmlns:a="http://schemas.openxmlformats.org/drawingml/2006/main">
            <a:off x="723900" y="29527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6B82"/>
                </a:solidFill>
                <a:latin typeface="Arial"/>
                <a:ea typeface="Arial"/>
                <a:cs typeface="Arial"/>
              </a:defRPr>
            </a:pPr>
            <a:r>
              <a:rPr sz="2250" b="1">
                <a:solidFill>
                  <a:srgbClr val="176B82"/>
                </a:solidFill>
                <a:latin typeface="Arial"/>
                <a:ea typeface="Arial"/>
                <a:cs typeface="Arial"/>
              </a:rPr>
              <a:t>Next dataset step</a:t>
            </a:r>
          </a:p>
        </p:txBody>
      </p:sp>
      <p:sp>
        <p:nvSpPr>
          <p:cNvPr id="6" name="">
            <a:extLst xmlns:a="http://schemas.openxmlformats.org/drawingml/2006/main">
              <a:ext uri="{FF2B5EF4-FFF2-40B4-BE49-F238E27FC236}">
                <a16:creationId xmlns:a16="http://schemas.microsoft.com/office/drawing/2014/main" id="{732D6458-8A20-4AD4-9779-19A683E63D79}"/>
              </a:ext>
            </a:extLst>
          </p:cNvPr>
          <p:cNvSpPr>
            <a:spLocks xmlns:a="http://schemas.openxmlformats.org/drawingml/2006/main" noGrp="1"/>
          </p:cNvSpPr>
          <p:nvPr/>
        </p:nvSpPr>
        <p:spPr>
          <a:xfrm xmlns:a="http://schemas.openxmlformats.org/drawingml/2006/main">
            <a:off x="723900" y="34480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043"/>
                </a:solidFill>
                <a:latin typeface="Arial"/>
                <a:ea typeface="Arial"/>
                <a:cs typeface="Arial"/>
              </a:defRPr>
            </a:pPr>
            <a:r>
              <a:rPr sz="1800" b="0">
                <a:solidFill>
                  <a:srgbClr val="173043"/>
                </a:solidFill>
                <a:latin typeface="Arial"/>
                <a:ea typeface="Arial"/>
                <a:cs typeface="Arial"/>
              </a:rPr>
              <a:t>Confirm collection period and acquire dated, regional and condition fields if licensing permits.</a:t>
            </a:r>
          </a:p>
        </p:txBody>
      </p:sp>
      <p:sp>
        <p:nvSpPr>
          <p:cNvPr id="7" name="">
            <a:extLst xmlns:a="http://schemas.openxmlformats.org/drawingml/2006/main">
              <a:ext uri="{FF2B5EF4-FFF2-40B4-BE49-F238E27FC236}">
                <a16:creationId xmlns:a16="http://schemas.microsoft.com/office/drawing/2014/main" id="{BEB4941A-6937-4C11-83A9-B8AF63956BFD}"/>
              </a:ext>
            </a:extLst>
          </p:cNvPr>
          <p:cNvSpPr>
            <a:spLocks xmlns:a="http://schemas.openxmlformats.org/drawingml/2006/main" noGrp="1"/>
          </p:cNvSpPr>
          <p:nvPr/>
        </p:nvSpPr>
        <p:spPr>
          <a:xfrm xmlns:a="http://schemas.openxmlformats.org/drawingml/2006/main">
            <a:off x="723900" y="4429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6B82"/>
                </a:solidFill>
                <a:latin typeface="Arial"/>
                <a:ea typeface="Arial"/>
                <a:cs typeface="Arial"/>
              </a:defRPr>
            </a:pPr>
            <a:r>
              <a:rPr sz="2250" b="1">
                <a:solidFill>
                  <a:srgbClr val="176B82"/>
                </a:solidFill>
                <a:latin typeface="Arial"/>
                <a:ea typeface="Arial"/>
                <a:cs typeface="Arial"/>
              </a:rPr>
              <a:t>Next modelling step</a:t>
            </a:r>
          </a:p>
        </p:txBody>
      </p:sp>
      <p:sp>
        <p:nvSpPr>
          <p:cNvPr id="8" name="">
            <a:extLst xmlns:a="http://schemas.openxmlformats.org/drawingml/2006/main">
              <a:ext uri="{FF2B5EF4-FFF2-40B4-BE49-F238E27FC236}">
                <a16:creationId xmlns:a16="http://schemas.microsoft.com/office/drawing/2014/main" id="{83033854-B949-4675-8005-14EB2D0411E9}"/>
              </a:ext>
            </a:extLst>
          </p:cNvPr>
          <p:cNvSpPr>
            <a:spLocks xmlns:a="http://schemas.openxmlformats.org/drawingml/2006/main" noGrp="1"/>
          </p:cNvSpPr>
          <p:nvPr/>
        </p:nvSpPr>
        <p:spPr>
          <a:xfrm xmlns:a="http://schemas.openxmlformats.org/drawingml/2006/main">
            <a:off x="723900" y="49244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043"/>
                </a:solidFill>
                <a:latin typeface="Arial"/>
                <a:ea typeface="Arial"/>
                <a:cs typeface="Arial"/>
              </a:defRPr>
            </a:pPr>
            <a:r>
              <a:rPr sz="1800" b="0">
                <a:solidFill>
                  <a:srgbClr val="173043"/>
                </a:solidFill>
                <a:latin typeface="Arial"/>
                <a:ea typeface="Arial"/>
                <a:cs typeface="Arial"/>
              </a:rPr>
              <a:t>Compare stronger models, examine subgroup errors and validate on newer listings.</a:t>
            </a:r>
          </a:p>
        </p:txBody>
      </p:sp>
      <p:sp>
        <p:nvSpPr>
          <p:cNvPr id="9" name="">
            <a:extLst xmlns:a="http://schemas.openxmlformats.org/drawingml/2006/main">
              <a:ext uri="{FF2B5EF4-FFF2-40B4-BE49-F238E27FC236}">
                <a16:creationId xmlns:a16="http://schemas.microsoft.com/office/drawing/2014/main" id="{B33B1A68-B6A2-416B-8E14-5D3DCB170957}"/>
              </a:ext>
            </a:extLst>
          </p:cNvPr>
          <p:cNvSpPr>
            <a:spLocks xmlns:a="http://schemas.openxmlformats.org/drawingml/2006/main" noGrp="1"/>
          </p:cNvSpPr>
          <p:nvPr/>
        </p:nvSpPr>
        <p:spPr>
          <a:xfrm xmlns:a="http://schemas.openxmlformats.org/drawingml/2006/main">
            <a:off x="742950" y="604837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0616B"/>
                </a:solidFill>
                <a:latin typeface="Arial"/>
                <a:ea typeface="Arial"/>
                <a:cs typeface="Arial"/>
              </a:defRPr>
            </a:pPr>
            <a:r>
              <a:rPr sz="1575" b="0">
                <a:solidFill>
                  <a:srgbClr val="50616B"/>
                </a:solidFill>
                <a:latin typeface="Arial"/>
                <a:ea typeface="Arial"/>
                <a:cs typeface="Arial"/>
              </a:rPr>
              <a:t>Both students should verify the code, results and contribution record before submission.</a:t>
            </a:r>
          </a:p>
        </p:txBody>
      </p:sp>
    </p:spTree>
    <p:extLst>
      <p:ext uri="{BB962C8B-B14F-4D97-AF65-F5344CB8AC3E}">
        <p14:creationId xmlns:p14="http://schemas.microsoft.com/office/powerpoint/2010/main" val="4228431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2026-09-29T11:12:18.9310000Z</dcterms:created>
  <dcterms:modified xsi:type="dcterms:W3CDTF">2026-09-29T11:12:18.9320000Z</dcterms:modified>
</coreProperties>
</file>