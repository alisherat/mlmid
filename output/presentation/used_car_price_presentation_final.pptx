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3ac9097af474b" /><Relationship Type="http://schemas.openxmlformats.org/officeDocument/2006/relationships/extended-properties" Target="/docProps/app.xml" Id="R1c9d001780714df5" /><Relationship Type="http://schemas.openxmlformats.org/officeDocument/2006/relationships/officeDocument" Target="/ppt/presentation.xml" Id="R54d285d5a097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be877fb4334509"/>
  </p:sldMasterIdLst>
  <p:notesMasterIdLst>
    <p:notesMasterId xmlns:r="http://schemas.openxmlformats.org/officeDocument/2006/relationships" r:id="R4e8db6b8c6864292"/>
  </p:notesMasterIdLst>
  <p:sldIdLst>
    <p:sldId xmlns:r="http://schemas.openxmlformats.org/officeDocument/2006/relationships" id="256" r:id="R6c2892dd9cac4562"/>
    <p:sldId xmlns:r="http://schemas.openxmlformats.org/officeDocument/2006/relationships" id="257" r:id="R49f15758a8cf41ad"/>
    <p:sldId xmlns:r="http://schemas.openxmlformats.org/officeDocument/2006/relationships" id="258" r:id="Rb546e045df9140f9"/>
    <p:sldId xmlns:r="http://schemas.openxmlformats.org/officeDocument/2006/relationships" id="259" r:id="R152a6d99c9344790"/>
    <p:sldId xmlns:r="http://schemas.openxmlformats.org/officeDocument/2006/relationships" id="260" r:id="R764ca909629a4a5c"/>
    <p:sldId xmlns:r="http://schemas.openxmlformats.org/officeDocument/2006/relationships" id="261" r:id="R48b3813f395b482d"/>
    <p:sldId xmlns:r="http://schemas.openxmlformats.org/officeDocument/2006/relationships" id="262" r:id="Rf0ac1dee662c4411"/>
    <p:sldId xmlns:r="http://schemas.openxmlformats.org/officeDocument/2006/relationships" id="263" r:id="Re319b449f8ff48ca"/>
    <p:sldId xmlns:r="http://schemas.openxmlformats.org/officeDocument/2006/relationships" id="264" r:id="R2159a5f16c734967"/>
    <p:sldId xmlns:r="http://schemas.openxmlformats.org/officeDocument/2006/relationships" id="265" r:id="Raf0bfbe0ea4a4b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5e8e9cb00c4b17" /><Relationship Type="http://schemas.openxmlformats.org/officeDocument/2006/relationships/slideMaster" Target="/ppt/slideMasters/slideMaster1.xml" Id="R61be877fb4334509" /><Relationship Type="http://schemas.openxmlformats.org/officeDocument/2006/relationships/notesMaster" Target="/ppt/notesMasters/notesMaster1.xml" Id="R4e8db6b8c6864292" /><Relationship Type="http://schemas.openxmlformats.org/officeDocument/2006/relationships/presProps" Target="/ppt/presProps.xml" Id="Rf0248bc0e08e472f" /><Relationship Type="http://schemas.openxmlformats.org/officeDocument/2006/relationships/tableStyles" Target="/ppt/tableStyles.xml" Id="R9c3251b0293c4ac9" /><Relationship Type="http://schemas.openxmlformats.org/officeDocument/2006/relationships/slide" Target="/ppt/slides/slide1.xml" Id="R6c2892dd9cac4562" /><Relationship Type="http://schemas.openxmlformats.org/officeDocument/2006/relationships/slide" Target="/ppt/slides/slide2.xml" Id="R49f15758a8cf41ad" /><Relationship Type="http://schemas.openxmlformats.org/officeDocument/2006/relationships/slide" Target="/ppt/slides/slide3.xml" Id="Rb546e045df9140f9" /><Relationship Type="http://schemas.openxmlformats.org/officeDocument/2006/relationships/slide" Target="/ppt/slides/slide4.xml" Id="R152a6d99c9344790" /><Relationship Type="http://schemas.openxmlformats.org/officeDocument/2006/relationships/slide" Target="/ppt/slides/slide5.xml" Id="R764ca909629a4a5c" /><Relationship Type="http://schemas.openxmlformats.org/officeDocument/2006/relationships/slide" Target="/ppt/slides/slide6.xml" Id="R48b3813f395b482d" /><Relationship Type="http://schemas.openxmlformats.org/officeDocument/2006/relationships/slide" Target="/ppt/slides/slide7.xml" Id="Rf0ac1dee662c4411" /><Relationship Type="http://schemas.openxmlformats.org/officeDocument/2006/relationships/slide" Target="/ppt/slides/slide8.xml" Id="Re319b449f8ff48ca" /><Relationship Type="http://schemas.openxmlformats.org/officeDocument/2006/relationships/slide" Target="/ppt/slides/slide9.xml" Id="R2159a5f16c734967" /><Relationship Type="http://schemas.openxmlformats.org/officeDocument/2006/relationships/slide" Target="/ppt/slides/slide10.xml" Id="Raf0bfbe0ea4a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d3443e54e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b777bae22428c" /><Relationship Type="http://schemas.openxmlformats.org/officeDocument/2006/relationships/notesMaster" Target="/ppt/notesMasters/notesMaster1.xml" Id="R5457de6dd9ea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676f822a94b1e" /><Relationship Type="http://schemas.openxmlformats.org/officeDocument/2006/relationships/notesMaster" Target="/ppt/notesMasters/notesMaster1.xml" Id="R49f5d998115e41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4cf02459404999" /><Relationship Type="http://schemas.openxmlformats.org/officeDocument/2006/relationships/notesMaster" Target="/ppt/notesMasters/notesMaster1.xml" Id="Rfbefc4cf1963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54daa50c4421a" /><Relationship Type="http://schemas.openxmlformats.org/officeDocument/2006/relationships/notesMaster" Target="/ppt/notesMasters/notesMaster1.xml" Id="R22ae018f784e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7c39aa3cb4966" /><Relationship Type="http://schemas.openxmlformats.org/officeDocument/2006/relationships/notesMaster" Target="/ppt/notesMasters/notesMaster1.xml" Id="Rc16b121eaf8443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bfb71bee474949" /><Relationship Type="http://schemas.openxmlformats.org/officeDocument/2006/relationships/notesMaster" Target="/ppt/notesMasters/notesMaster1.xml" Id="R3431c3f3869743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219f3f1724bc8" /><Relationship Type="http://schemas.openxmlformats.org/officeDocument/2006/relationships/notesMaster" Target="/ppt/notesMasters/notesMaster1.xml" Id="Rd40feed77c024e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57c2b6df1640cd" /><Relationship Type="http://schemas.openxmlformats.org/officeDocument/2006/relationships/notesMaster" Target="/ppt/notesMasters/notesMaster1.xml" Id="Rb4fb4ac8438d45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267117031446e" /><Relationship Type="http://schemas.openxmlformats.org/officeDocument/2006/relationships/notesMaster" Target="/ppt/notesMasters/notesMaster1.xml" Id="Rffbb9fb3ba41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f975cd8c5947d3" /><Relationship Type="http://schemas.openxmlformats.org/officeDocument/2006/relationships/notesMaster" Target="/ppt/notesMasters/notesMaster1.xml" Id="Rf9d7bc131641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Alisher: introduce the Kazakhstan-specific regression question.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Alisher: target, inputs and MAE success criterion.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Alisher: cite the Kaggle version date and clarify that row-level listing dates are not available.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Alisher: explain new-car, on-order and repeated-ad exclusions before the split.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Alisher: training-only EDA. Year medians shown at five-year intervals; Spearman association uses all training rows.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Alisher: training-only EDA. Hybrid n=22 and gas n=24, so medians are unstable. Other EDA plots are in results.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Aslan: explain holdout design and fold-fitted preprocessing.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Aslan: selection uses validation MAE, not test MAE. Tree mean three-fold CV MAE was KZT 2.86m.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Aslan: exact test MAE KZT 2,444,769; baseline KZT 5,950,858; 58.9% improvement; RMSE KZT 5,891,766; R2 0.715.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Aslan: conclude. The team confirmed Alisher handled data/EDA and Aslan handled models/evaluation. Both answer questions. Source: Darkhan Mutashev, Kolesa-Cars-2025, Kaggle, https://www.kaggle.com/datasets/mutashevdarkhan/kolesa-cars-2025 . Dataset last updated 18 December 2025. Source rows link to Kolesa.kz ads; all figures were computed by this project from the local CSV. Asking prices in KZT, not confirmed sale amounts.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7f8763dac46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679ceaea68441c" /><Relationship Type="http://schemas.openxmlformats.org/officeDocument/2006/relationships/slideLayout" Target="/ppt/slideLayouts/slideLayout1.xml" Id="R1e6db1cd2b87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db1cd2b87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2c811c5654362" /><Relationship Type="http://schemas.openxmlformats.org/officeDocument/2006/relationships/notesSlide" Target="/ppt/notesSlides/notesSlide1.xml" Id="R6cf14ba13a24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7ffe5c1e34134" /><Relationship Type="http://schemas.openxmlformats.org/officeDocument/2006/relationships/notesSlide" Target="/ppt/notesSlides/notesSlide2.xml" Id="Raf6c91b29c93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e35422a8a4a1c" /><Relationship Type="http://schemas.openxmlformats.org/officeDocument/2006/relationships/notesSlide" Target="/ppt/notesSlides/notesSlide3.xml" Id="R210bc243a314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94a48434d401a" /><Relationship Type="http://schemas.openxmlformats.org/officeDocument/2006/relationships/notesSlide" Target="/ppt/notesSlides/notesSlide4.xml" Id="R70eeb0d44c6a46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450e93c454e71" /><Relationship Type="http://schemas.openxmlformats.org/officeDocument/2006/relationships/chart" Target="/ppt/slides/charts/chart1.xml" Id="Ra792a64e365340df" /><Relationship Type="http://schemas.openxmlformats.org/officeDocument/2006/relationships/notesSlide" Target="/ppt/notesSlides/notesSlide5.xml" Id="R2aa7d7ff6203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54d42f7a24ed2" /><Relationship Type="http://schemas.openxmlformats.org/officeDocument/2006/relationships/chart" Target="/ppt/slides/charts/chart2.xml" Id="R485cb65c36184d9c" /><Relationship Type="http://schemas.openxmlformats.org/officeDocument/2006/relationships/notesSlide" Target="/ppt/notesSlides/notesSlide6.xml" Id="R10bb4be3799c43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3493e63e54398" /><Relationship Type="http://schemas.openxmlformats.org/officeDocument/2006/relationships/notesSlide" Target="/ppt/notesSlides/notesSlide7.xml" Id="R753de8f4526e40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e65327e604867" /><Relationship Type="http://schemas.openxmlformats.org/officeDocument/2006/relationships/chart" Target="/ppt/slides/charts/chart3.xml" Id="R96086634cbb448aa" /><Relationship Type="http://schemas.openxmlformats.org/officeDocument/2006/relationships/notesSlide" Target="/ppt/notesSlides/notesSlide8.xml" Id="Rd8459f2f75fb4b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7e962ef7748ae" /><Relationship Type="http://schemas.openxmlformats.org/officeDocument/2006/relationships/chart" Target="/ppt/slides/charts/chart4.xml" Id="Rf1c0d09957fd4de7" /><Relationship Type="http://schemas.openxmlformats.org/officeDocument/2006/relationships/notesSlide" Target="/ppt/notesSlides/notesSlide9.xml" Id="R2a3e41d0840943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1aecc807a4f46" /><Relationship Type="http://schemas.openxmlformats.org/officeDocument/2006/relationships/notesSlide" Target="/ppt/notesSlides/notesSlide10.xml" Id="Rc6c61cdd70ef47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Median million KZT</c:v>
          </c:tx>
          <c:spPr>
            <a:solidFill xmlns:a="http://schemas.openxmlformats.org/drawingml/2006/main">
              <a:srgbClr val="176B82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3.8</c:v>
                </c:pt>
                <c:pt idx="1">
                  <c:v>5.5</c:v>
                </c:pt>
                <c:pt idx="2">
                  <c:v>6.6</c:v>
                </c:pt>
                <c:pt idx="3">
                  <c:v>7.5</c:v>
                </c:pt>
                <c:pt idx="4">
                  <c:v>10.9</c:v>
                </c:pt>
                <c:pt idx="5">
                  <c:v>15.3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million KZT</c:v>
          </c:tx>
          <c:spPr>
            <a:solidFill xmlns:a="http://schemas.openxmlformats.org/drawingml/2006/main">
              <a:srgbClr val="176B82"/>
            </a:solidFill>
          </c:spPr>
          <c:cat>
            <c:strRef>
              <c:f>'Chart Data'!$A$2:$A$5</c:f>
              <c:strCache>
                <c:ptCount val="4"/>
                <c:pt idx="0">
                  <c:v>petrol</c:v>
                </c:pt>
                <c:pt idx="1">
                  <c:v>diesel</c:v>
                </c:pt>
                <c:pt idx="2">
                  <c:v>hybrid</c:v>
                </c:pt>
                <c:pt idx="3">
                  <c:v>gas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6.5</c:v>
                </c:pt>
                <c:pt idx="1">
                  <c:v>5.7</c:v>
                </c:pt>
                <c:pt idx="2">
                  <c:v>19</c:v>
                </c:pt>
                <c:pt idx="3">
                  <c:v>8.3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 million KZT</c:v>
          </c:tx>
          <c:spPr>
            <a:solidFill xmlns:a="http://schemas.openxmlformats.org/drawingml/2006/main">
              <a:srgbClr val="176B82"/>
            </a:solidFill>
          </c:spPr>
          <c:cat>
            <c:strRef>
              <c:f>'Chart Data'!$A$2:$A$5</c:f>
              <c:strCache>
                <c:ptCount val="4"/>
                <c:pt idx="0">
                  <c:v>Median</c:v>
                </c:pt>
                <c:pt idx="1">
                  <c:v>Linear</c:v>
                </c:pt>
                <c:pt idx="2">
                  <c:v>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6.5</c:v>
                </c:pt>
                <c:pt idx="1">
                  <c:v>4.6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absolute error million KZT</c:v>
          </c:tx>
          <c:spPr>
            <a:solidFill xmlns:a="http://schemas.openxmlformats.org/drawingml/2006/main">
              <a:srgbClr val="B65E43"/>
            </a:solidFill>
          </c:spP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1.1</c:v>
                </c:pt>
                <c:pt idx="1">
                  <c:v>1.4</c:v>
                </c:pt>
                <c:pt idx="2">
                  <c:v>1.5</c:v>
                </c:pt>
                <c:pt idx="3">
                  <c:v>6.4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75B64-DAE1-4C97-B5D8-048D85F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Used car price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DE132-27EA-44B4-9887-CCC67C48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DE6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DE6EC"/>
                </a:solidFill>
                <a:latin typeface="Arial"/>
                <a:ea typeface="Arial"/>
                <a:cs typeface="Arial"/>
              </a:rPr>
              <a:t>Kazakhstan listings · prices in tenge (KZT)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8B2B0-F353-4236-A5D9-CE2E643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Алишер Ахмет   ·   Муратов Аслан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A6D10-015C-41B5-B4A0-315A612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DE6E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DE6EC"/>
                </a:solidFill>
                <a:latin typeface="Arial"/>
                <a:ea typeface="Arial"/>
                <a:cs typeface="Arial"/>
              </a:rPr>
              <a:t>Machine Learning Algorithms | Midterm project</a:t>
            </a:r>
          </a:p>
        </p:txBody>
      </p:sp>
    </p:spTree>
    <p:extLst>
      <p:ext uri="{BB962C8B-B14F-4D97-AF65-F5344CB8AC3E}">
        <p14:creationId xmlns:p14="http://schemas.microsoft.com/office/powerpoint/2010/main" val="1448583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FCB3-01A8-48F9-AE4E-AE753AC0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The prediction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204B2-BE60-47DC-90F2-B6915D8E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8D8E5-D44E-4F88-A2A1-6BC2DAC8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804B3-0A50-4FD5-AE9D-4216376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Advertised asking price of a used car in Kazakhstan, measured in tenge (KZT).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F15A4-8476-42D3-99B5-22D2DEAD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2247C-5477-4900-97A6-B63673B4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Brand, model, year, mileage, engine size, body type, fuel and transmission.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AD3BC-70C8-4915-9DE4-11BDB6EB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5E43"/>
                </a:solidFill>
                <a:latin typeface="Arial"/>
                <a:ea typeface="Arial"/>
                <a:cs typeface="Arial"/>
              </a:rPr>
              <a:t>Success criterion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A1160-C35B-442A-B2B0-4162D26C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At least 20% lower test MAE than a training-median price baseline.</a:t>
            </a:r>
          </a:p>
        </p:txBody>
      </p:sp>
    </p:spTree>
    <p:extLst>
      <p:ext uri="{BB962C8B-B14F-4D97-AF65-F5344CB8AC3E}">
        <p14:creationId xmlns:p14="http://schemas.microsoft.com/office/powerpoint/2010/main" val="248953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E26EE-D92E-4A60-BB8B-346412B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A Kazakhstan listing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94ED4-1BAF-4829-9761-A36582E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1D0CF-5295-463C-8C23-42E4B840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3,999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7AEF6-2EFA-4E6B-ABE1-511EC18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source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46B23-EC99-4D1D-96BE-BE234FAC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80B15-A6EE-4F0B-896D-CC84902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source columns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4AD96-8914-42DD-BD35-CCA6C32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7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95BF7-89A2-4B81-91B5-9023A4E8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prices in tenge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C6257-10A8-43FF-A69B-EAC157D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Kolesa-Cars-2025 on Kaggle, last updated 18 December 2025.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A2C47-EADB-4BAE-9159-9E237AD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334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65E43"/>
                </a:solidFill>
                <a:latin typeface="Arial"/>
                <a:ea typeface="Arial"/>
                <a:cs typeface="Arial"/>
              </a:rPr>
              <a:t>Listing dates are absent. This is a 2025 public snapshot, not a live 2026 price feed.</a:t>
            </a:r>
          </a:p>
        </p:txBody>
      </p:sp>
    </p:spTree>
    <p:extLst>
      <p:ext uri="{BB962C8B-B14F-4D97-AF65-F5344CB8AC3E}">
        <p14:creationId xmlns:p14="http://schemas.microsoft.com/office/powerpoint/2010/main" val="38601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D2FE0-D8ED-4F45-B8EB-DB18746F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2,553 unique used-car listings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42292-B0AF-4527-BCB7-5F2C7B2E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F42E8-1236-436F-A33C-9339F22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527 new-car rows excluded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51E50-A6EE-4B4F-8918-CF7FD501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We model used cars only, so the task and target population stay 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160AC-0C85-4DCF-8BE9-24B8A344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968 repeated source rows found by ad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B527C-BA7D-43BE-ACA4-433B8465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The same listing cannot appear in both training and test after deduplication.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C4E05-59E9-4F4A-87E2-1EA661EF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51 on-order used rows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7852D-00C8-4861-9681-66007D9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Engine size is recovered from descriptions; missing mileage stays missing for fold-fitted imputation.</a:t>
            </a:r>
          </a:p>
        </p:txBody>
      </p:sp>
    </p:spTree>
    <p:extLst>
      <p:ext uri="{BB962C8B-B14F-4D97-AF65-F5344CB8AC3E}">
        <p14:creationId xmlns:p14="http://schemas.microsoft.com/office/powerpoint/2010/main" val="1516629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1E0C6-C59F-43EF-95F7-351BE14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Newer model years generally list for more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5B421-3ABC-4598-BEB5-DDC6CE0B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19150" y="1600200"/>
          <a:ext xmlns:a="http://schemas.openxmlformats.org/drawingml/2006/main" cx="7620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92a64e365340d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ACEC5-B69E-445E-A322-0B18119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Median asking price (million KZT)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9E6AC-8B18-47EA-BA7E-3C7392D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ρ = 0.69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1B887-D181-4BBC-96F9-DBB93C9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09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Model year and price, training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D1ED2-3F32-4A56-9CC6-48681E7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481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2000: KZT 3.8m</a:t>
            </a:r>
          </a:p>
          <a:p xmlns:a="http://schemas.openxmlformats.org/drawingml/2006/main">
            <a:pPr>
              <a:defRPr sz="16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2025: KZT 15.3m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100E2-2141-481D-B7B8-5F5C41A7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5E43"/>
                </a:solidFill>
                <a:latin typeface="Arial"/>
                <a:ea typeface="Arial"/>
                <a:cs typeface="Arial"/>
              </a:rPr>
              <a:t>Association only</a:t>
            </a:r>
          </a:p>
        </p:txBody>
      </p:sp>
    </p:spTree>
    <p:extLst>
      <p:ext uri="{BB962C8B-B14F-4D97-AF65-F5344CB8AC3E}">
        <p14:creationId xmlns:p14="http://schemas.microsoft.com/office/powerpoint/2010/main" val="995139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FB1BF-42D7-417E-9F88-23842B3B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Fuel groups vary; the sample sizes matter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E0BC-5A9F-4277-910C-9512BE0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7239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5cb65c36184d9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79078-DB13-4835-867C-95C7E4A8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Median asking price (million KZT)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EA242-67F4-4680-B101-AF532425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KZT 6.70m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63E23-BD64-447D-B75B-6128DC2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training median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D9EDF-8F08-4640-BED2-51BE0D99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KZT 9.53m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E9D9C-F2AD-4E3F-B904-0F07A9C1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training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D8329-546D-4CD7-B2F3-BC562367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5E43"/>
                </a:solidFill>
                <a:latin typeface="Arial"/>
                <a:ea typeface="Arial"/>
                <a:cs typeface="Arial"/>
              </a:rPr>
              <a:t>Hybrid n=22; gas n=24. Group differences are descriptive.</a:t>
            </a:r>
          </a:p>
        </p:txBody>
      </p:sp>
    </p:spTree>
    <p:extLst>
      <p:ext uri="{BB962C8B-B14F-4D97-AF65-F5344CB8AC3E}">
        <p14:creationId xmlns:p14="http://schemas.microsoft.com/office/powerpoint/2010/main" val="1925301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328A4-EC43-43A0-966B-3692E5CD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Split, preprocessing and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10B32-D45F-4909-88B5-C631447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DDC6-AE00-481D-9B0F-CBDCA7D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1,787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5E0F2-E7AA-4F75-876B-B74C3A64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EE5D9-6029-4141-BF04-642DCE1C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383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2CCB9-B0AC-4848-87D0-789B086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AF1B9-7F00-45C4-8CFF-9B1280E1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383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938C7-B003-4A4E-AF54-6CB0334C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untouched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41A88-02D9-496E-A0D4-FF7A3C7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Imputation, scaling and one-hot encoding are fitted inside each training fold.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9DBC7-B871-4EDC-84D9-96BD5CCA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65E43"/>
                </a:solidFill>
                <a:latin typeface="Arial"/>
                <a:ea typeface="Arial"/>
                <a:cs typeface="Arial"/>
              </a:rPr>
              <a:t>Tree: 3-fold CV on training rows. Best depth 10; minimum leaf size 3.</a:t>
            </a:r>
          </a:p>
        </p:txBody>
      </p:sp>
    </p:spTree>
    <p:extLst>
      <p:ext uri="{BB962C8B-B14F-4D97-AF65-F5344CB8AC3E}">
        <p14:creationId xmlns:p14="http://schemas.microsoft.com/office/powerpoint/2010/main" val="298930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8F42C-CA35-4BB8-AB52-031F8943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KNN has the lowest validation MAE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B3F9A-1D4A-4095-84DB-9E500CA1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38200" y="1666875"/>
          <a:ext xmlns:a="http://schemas.openxmlformats.org/drawingml/2006/main" cx="7810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086634cbb448a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6506D-D33A-4154-AE22-191EA7A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MAE (million KZT)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2E631-36F9-4453-B1FB-2CDB41D3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KZT 3.18m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C0609-048B-410B-AFB9-C74AA35A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KNN validation 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8295C-E44B-44D9-961A-55CC4A39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65E43"/>
                </a:solidFill>
                <a:latin typeface="Arial"/>
                <a:ea typeface="Arial"/>
                <a:cs typeface="Arial"/>
              </a:rPr>
              <a:t>Chosen before viewing the test set</a:t>
            </a:r>
          </a:p>
        </p:txBody>
      </p:sp>
    </p:spTree>
    <p:extLst>
      <p:ext uri="{BB962C8B-B14F-4D97-AF65-F5344CB8AC3E}">
        <p14:creationId xmlns:p14="http://schemas.microsoft.com/office/powerpoint/2010/main" val="46998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9E6AF-DB45-429A-87D7-86A365D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Held-out test MAE: KZT 2.45m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439D5-4877-4E89-909E-33F30A23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ACCCE-5A67-4BF5-880D-C203029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2.45m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7CD7D-63B8-4ACC-9354-C350908F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KNN test MAE, KZT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B7E82-D157-4EAB-BDEB-9EE75BE6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0616B"/>
                </a:solidFill>
                <a:latin typeface="Arial"/>
                <a:ea typeface="Arial"/>
                <a:cs typeface="Arial"/>
              </a:rPr>
              <a:t>5.95m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649C-28D5-405B-B6A6-76FF1AD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baseline test MAE, KZT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E0440-0062-41E0-980E-72A097C9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76400"/>
            <a:ext cx="2571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58.9%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58D53-1688-4114-8A07-E74327C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050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1047750" y="3667125"/>
          <a:ext xmlns:a="http://schemas.openxmlformats.org/drawingml/2006/main" cx="9906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c0d09957fd4de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2CD5D-BAC8-4851-AF47-D4E26846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674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Mean absolute error by price quartile (Q4 = most expensive)</a:t>
            </a:r>
          </a:p>
        </p:txBody>
      </p:sp>
    </p:spTree>
    <p:extLst>
      <p:ext uri="{BB962C8B-B14F-4D97-AF65-F5344CB8AC3E}">
        <p14:creationId xmlns:p14="http://schemas.microsoft.com/office/powerpoint/2010/main" val="1237362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192CB-C9DD-4BCC-975C-5C00017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043"/>
                </a:solidFill>
                <a:latin typeface="Arial"/>
                <a:ea typeface="Arial"/>
                <a:cs typeface="Arial"/>
              </a:rPr>
              <a:t>Limits and the final-stage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24C12-B258-45D2-BA75-0E5CEFB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FD031-536E-4CA9-93D7-B3E49E41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65E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5E43"/>
                </a:solidFill>
                <a:latin typeface="Arial"/>
                <a:ea typeface="Arial"/>
                <a:cs typeface="Arial"/>
              </a:rPr>
              <a:t>2025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5A1AF-0626-4467-BBA3-3070882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Dataset update date is 18 December 2025; no row-level dates, cities or sale prices.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33A0D-6BA2-4FF7-8304-55062505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Expensive cars have higher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DECC9-3BBF-4CDC-9ADC-76D3E9F1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Highest price quartile: mean absolute test error KZT 6.44m.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5F73C-27E5-4E08-AA73-7D4D2D65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427BA-7219-400A-8B1F-3B867D6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3"/>
                </a:solidFill>
                <a:latin typeface="Arial"/>
                <a:ea typeface="Arial"/>
                <a:cs typeface="Arial"/>
              </a:rPr>
              <a:t>Get a licensed dated 2026 sample, add location/condition, and test on later listings.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29E5C-D1F9-4193-8424-A58F4BE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Alisher: data and EDA. Aslan: models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767997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2026-09-29T11:44:31.6550000Z</dcterms:created>
  <dcterms:modified xsi:type="dcterms:W3CDTF">2026-09-29T11:44:31.6550000Z</dcterms:modified>
</coreProperties>
</file>